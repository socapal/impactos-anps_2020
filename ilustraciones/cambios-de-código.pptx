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5" r:id="rId3"/>
    <p:sldId id="272" r:id="rId4"/>
    <p:sldId id="273" r:id="rId5"/>
    <p:sldId id="274" r:id="rId6"/>
    <p:sldId id="275" r:id="rId7"/>
    <p:sldId id="288" r:id="rId8"/>
    <p:sldId id="277" r:id="rId9"/>
    <p:sldId id="278" r:id="rId10"/>
    <p:sldId id="269" r:id="rId11"/>
    <p:sldId id="279" r:id="rId12"/>
    <p:sldId id="268" r:id="rId13"/>
    <p:sldId id="280" r:id="rId14"/>
    <p:sldId id="261" r:id="rId15"/>
    <p:sldId id="266" r:id="rId16"/>
    <p:sldId id="258" r:id="rId17"/>
    <p:sldId id="267" r:id="rId18"/>
    <p:sldId id="281" r:id="rId19"/>
    <p:sldId id="271" r:id="rId20"/>
    <p:sldId id="282" r:id="rId21"/>
    <p:sldId id="270" r:id="rId22"/>
    <p:sldId id="284" r:id="rId23"/>
    <p:sldId id="285" r:id="rId24"/>
    <p:sldId id="286" r:id="rId25"/>
    <p:sldId id="287" r:id="rId26"/>
    <p:sldId id="289" r:id="rId27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82FF78A2-7D7C-401C-9D8A-B81305F0E022}">
          <p14:sldIdLst>
            <p14:sldId id="262"/>
            <p14:sldId id="265"/>
            <p14:sldId id="272"/>
            <p14:sldId id="273"/>
            <p14:sldId id="274"/>
            <p14:sldId id="275"/>
            <p14:sldId id="288"/>
            <p14:sldId id="277"/>
            <p14:sldId id="278"/>
            <p14:sldId id="269"/>
            <p14:sldId id="279"/>
            <p14:sldId id="268"/>
            <p14:sldId id="280"/>
            <p14:sldId id="261"/>
            <p14:sldId id="266"/>
            <p14:sldId id="258"/>
            <p14:sldId id="267"/>
            <p14:sldId id="281"/>
            <p14:sldId id="271"/>
            <p14:sldId id="282"/>
            <p14:sldId id="270"/>
            <p14:sldId id="284"/>
            <p14:sldId id="285"/>
            <p14:sldId id="286"/>
            <p14:sldId id="287"/>
          </p14:sldIdLst>
        </p14:section>
        <p14:section name="archivo" id="{F6B7D996-C4DE-4280-9DF2-AD88241C1CC9}">
          <p14:sldIdLst>
            <p14:sldId id="28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2450"/>
    <a:srgbClr val="C9994D"/>
    <a:srgbClr val="D8B279"/>
    <a:srgbClr val="E5CAA2"/>
    <a:srgbClr val="F0E3CD"/>
    <a:srgbClr val="599C90"/>
    <a:srgbClr val="4472C4"/>
    <a:srgbClr val="DBBD91"/>
    <a:srgbClr val="C4976A"/>
    <a:srgbClr val="AB73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28" autoAdjust="0"/>
    <p:restoredTop sz="94660"/>
  </p:normalViewPr>
  <p:slideViewPr>
    <p:cSldViewPr snapToGrid="0">
      <p:cViewPr varScale="1">
        <p:scale>
          <a:sx n="77" d="100"/>
          <a:sy n="77" d="100"/>
        </p:scale>
        <p:origin x="11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parques-recreacion_impacto-anps\datos-procesados\tablas-figura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parques-recreacion_impacto-anps\datos-procesados\tablas-figura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parques-recreacion_impacto-anps\datos-procesados\tablas-figura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E:\parques-recreacion_impacto-anps\datos-procesados\tablas-figuras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'ANPs-2'!$A$11</c:f>
              <c:strCache>
                <c:ptCount val="1"/>
                <c:pt idx="0">
                  <c:v>APFF</c:v>
                </c:pt>
              </c:strCache>
            </c:strRef>
          </c:tx>
          <c:spPr>
            <a:ln w="28575" cap="rnd">
              <a:solidFill>
                <a:schemeClr val="accent4"/>
              </a:solidFill>
              <a:prstDash val="sysDash"/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cat>
            <c:numRef>
              <c:f>'ANPs-2'!$B$3:$L$3</c:f>
              <c:numCache>
                <c:formatCode>m/d/yyyy</c:formatCode>
                <c:ptCount val="11"/>
                <c:pt idx="0">
                  <c:v>40179</c:v>
                </c:pt>
                <c:pt idx="1">
                  <c:v>40544</c:v>
                </c:pt>
                <c:pt idx="2">
                  <c:v>40909</c:v>
                </c:pt>
                <c:pt idx="3">
                  <c:v>41275</c:v>
                </c:pt>
                <c:pt idx="4">
                  <c:v>41640</c:v>
                </c:pt>
                <c:pt idx="5">
                  <c:v>42005</c:v>
                </c:pt>
                <c:pt idx="6">
                  <c:v>42370</c:v>
                </c:pt>
                <c:pt idx="7">
                  <c:v>42736</c:v>
                </c:pt>
                <c:pt idx="8">
                  <c:v>43101</c:v>
                </c:pt>
                <c:pt idx="9">
                  <c:v>43466</c:v>
                </c:pt>
                <c:pt idx="10">
                  <c:v>43831</c:v>
                </c:pt>
              </c:numCache>
            </c:numRef>
          </c:cat>
          <c:val>
            <c:numRef>
              <c:f>'ANPs-2'!$B$11:$L$11</c:f>
              <c:numCache>
                <c:formatCode>0.00</c:formatCode>
                <c:ptCount val="11"/>
                <c:pt idx="0">
                  <c:v>823.23358173074394</c:v>
                </c:pt>
                <c:pt idx="1">
                  <c:v>921.05782608683103</c:v>
                </c:pt>
                <c:pt idx="2">
                  <c:v>986.51658334445199</c:v>
                </c:pt>
                <c:pt idx="3">
                  <c:v>1031.8212611101999</c:v>
                </c:pt>
                <c:pt idx="4">
                  <c:v>1053.15527448637</c:v>
                </c:pt>
                <c:pt idx="5">
                  <c:v>909.60281133454203</c:v>
                </c:pt>
                <c:pt idx="6">
                  <c:v>627.905776763061</c:v>
                </c:pt>
                <c:pt idx="7">
                  <c:v>614.482816545883</c:v>
                </c:pt>
                <c:pt idx="8">
                  <c:v>563.68416001811795</c:v>
                </c:pt>
                <c:pt idx="9">
                  <c:v>673.87929841582502</c:v>
                </c:pt>
                <c:pt idx="10">
                  <c:v>461.76057888888897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FCA-46A8-B5B9-E8763EDFFEA7}"/>
            </c:ext>
          </c:extLst>
        </c:ser>
        <c:ser>
          <c:idx val="1"/>
          <c:order val="1"/>
          <c:tx>
            <c:strRef>
              <c:f>'ANPs-2'!$A$12</c:f>
              <c:strCache>
                <c:ptCount val="1"/>
                <c:pt idx="0">
                  <c:v>APRN</c:v>
                </c:pt>
              </c:strCache>
            </c:strRef>
          </c:tx>
          <c:spPr>
            <a:ln w="28575" cap="rnd">
              <a:solidFill>
                <a:srgbClr val="072450"/>
              </a:solidFill>
              <a:prstDash val="sysDash"/>
              <a:round/>
            </a:ln>
            <a:effectLst/>
          </c:spPr>
          <c:marker>
            <c:symbol val="circle"/>
            <c:size val="5"/>
            <c:spPr>
              <a:solidFill>
                <a:srgbClr val="072450"/>
              </a:solidFill>
              <a:ln w="9525">
                <a:solidFill>
                  <a:srgbClr val="072450"/>
                </a:solidFill>
              </a:ln>
              <a:effectLst/>
            </c:spPr>
          </c:marker>
          <c:cat>
            <c:numRef>
              <c:f>'ANPs-2'!$B$3:$L$3</c:f>
              <c:numCache>
                <c:formatCode>m/d/yyyy</c:formatCode>
                <c:ptCount val="11"/>
                <c:pt idx="0">
                  <c:v>40179</c:v>
                </c:pt>
                <c:pt idx="1">
                  <c:v>40544</c:v>
                </c:pt>
                <c:pt idx="2">
                  <c:v>40909</c:v>
                </c:pt>
                <c:pt idx="3">
                  <c:v>41275</c:v>
                </c:pt>
                <c:pt idx="4">
                  <c:v>41640</c:v>
                </c:pt>
                <c:pt idx="5">
                  <c:v>42005</c:v>
                </c:pt>
                <c:pt idx="6">
                  <c:v>42370</c:v>
                </c:pt>
                <c:pt idx="7">
                  <c:v>42736</c:v>
                </c:pt>
                <c:pt idx="8">
                  <c:v>43101</c:v>
                </c:pt>
                <c:pt idx="9">
                  <c:v>43466</c:v>
                </c:pt>
                <c:pt idx="10">
                  <c:v>43831</c:v>
                </c:pt>
              </c:numCache>
            </c:numRef>
          </c:cat>
          <c:val>
            <c:numRef>
              <c:f>'ANPs-2'!$B$12:$L$12</c:f>
              <c:numCache>
                <c:formatCode>0.00</c:formatCode>
                <c:ptCount val="11"/>
                <c:pt idx="0">
                  <c:v>760.38477518172203</c:v>
                </c:pt>
                <c:pt idx="1">
                  <c:v>712.49612112455702</c:v>
                </c:pt>
                <c:pt idx="2">
                  <c:v>761.30552421920504</c:v>
                </c:pt>
                <c:pt idx="3">
                  <c:v>1270.02831463079</c:v>
                </c:pt>
                <c:pt idx="4">
                  <c:v>1194.45732454321</c:v>
                </c:pt>
                <c:pt idx="5">
                  <c:v>1021.92400965422</c:v>
                </c:pt>
                <c:pt idx="6">
                  <c:v>860.288645461138</c:v>
                </c:pt>
                <c:pt idx="7">
                  <c:v>835.01436320789298</c:v>
                </c:pt>
                <c:pt idx="8">
                  <c:v>714.43404825629204</c:v>
                </c:pt>
                <c:pt idx="9">
                  <c:v>764.89730047556202</c:v>
                </c:pt>
                <c:pt idx="10">
                  <c:v>639.31365500000004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FCA-46A8-B5B9-E8763EDFFEA7}"/>
            </c:ext>
          </c:extLst>
        </c:ser>
        <c:ser>
          <c:idx val="2"/>
          <c:order val="2"/>
          <c:tx>
            <c:strRef>
              <c:f>'ANPs-2'!$A$13</c:f>
              <c:strCache>
                <c:ptCount val="1"/>
                <c:pt idx="0">
                  <c:v>MN</c:v>
                </c:pt>
              </c:strCache>
            </c:strRef>
          </c:tx>
          <c:spPr>
            <a:ln w="28575" cap="rnd">
              <a:solidFill>
                <a:srgbClr val="59886B"/>
              </a:solidFill>
              <a:prstDash val="dash"/>
              <a:round/>
            </a:ln>
            <a:effectLst/>
          </c:spPr>
          <c:marker>
            <c:symbol val="plus"/>
            <c:size val="5"/>
            <c:spPr>
              <a:solidFill>
                <a:srgbClr val="59886B"/>
              </a:solidFill>
              <a:ln w="9525">
                <a:solidFill>
                  <a:srgbClr val="59886B"/>
                </a:solidFill>
              </a:ln>
              <a:effectLst/>
            </c:spPr>
          </c:marker>
          <c:cat>
            <c:numRef>
              <c:f>'ANPs-2'!$B$3:$L$3</c:f>
              <c:numCache>
                <c:formatCode>m/d/yyyy</c:formatCode>
                <c:ptCount val="11"/>
                <c:pt idx="0">
                  <c:v>40179</c:v>
                </c:pt>
                <c:pt idx="1">
                  <c:v>40544</c:v>
                </c:pt>
                <c:pt idx="2">
                  <c:v>40909</c:v>
                </c:pt>
                <c:pt idx="3">
                  <c:v>41275</c:v>
                </c:pt>
                <c:pt idx="4">
                  <c:v>41640</c:v>
                </c:pt>
                <c:pt idx="5">
                  <c:v>42005</c:v>
                </c:pt>
                <c:pt idx="6">
                  <c:v>42370</c:v>
                </c:pt>
                <c:pt idx="7">
                  <c:v>42736</c:v>
                </c:pt>
                <c:pt idx="8">
                  <c:v>43101</c:v>
                </c:pt>
                <c:pt idx="9">
                  <c:v>43466</c:v>
                </c:pt>
                <c:pt idx="10">
                  <c:v>43831</c:v>
                </c:pt>
              </c:numCache>
            </c:numRef>
          </c:cat>
          <c:val>
            <c:numRef>
              <c:f>'ANPs-2'!$B$13:$L$13</c:f>
              <c:numCache>
                <c:formatCode>0.00</c:formatCode>
                <c:ptCount val="11"/>
                <c:pt idx="0">
                  <c:v>413.06225897391403</c:v>
                </c:pt>
                <c:pt idx="1">
                  <c:v>346.26764517007001</c:v>
                </c:pt>
                <c:pt idx="2">
                  <c:v>366.64384210745101</c:v>
                </c:pt>
                <c:pt idx="3">
                  <c:v>246.951314466317</c:v>
                </c:pt>
                <c:pt idx="4">
                  <c:v>196.84216116187301</c:v>
                </c:pt>
                <c:pt idx="5">
                  <c:v>144.087981987582</c:v>
                </c:pt>
                <c:pt idx="6">
                  <c:v>58.154241082316801</c:v>
                </c:pt>
                <c:pt idx="7">
                  <c:v>25.8513840605365</c:v>
                </c:pt>
                <c:pt idx="8">
                  <c:v>15.734494744640401</c:v>
                </c:pt>
                <c:pt idx="9">
                  <c:v>24.670061064558102</c:v>
                </c:pt>
                <c:pt idx="10">
                  <c:v>25.750356666666701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FCA-46A8-B5B9-E8763EDFFEA7}"/>
            </c:ext>
          </c:extLst>
        </c:ser>
        <c:ser>
          <c:idx val="3"/>
          <c:order val="3"/>
          <c:tx>
            <c:strRef>
              <c:f>'ANPs-2'!$A$14</c:f>
              <c:strCache>
                <c:ptCount val="1"/>
                <c:pt idx="0">
                  <c:v>PN</c:v>
                </c:pt>
              </c:strCache>
            </c:strRef>
          </c:tx>
          <c:spPr>
            <a:ln w="28575" cap="rnd">
              <a:solidFill>
                <a:srgbClr val="E0AAAA"/>
              </a:solidFill>
              <a:prstDash val="sysDash"/>
              <a:round/>
            </a:ln>
            <a:effectLst/>
          </c:spPr>
          <c:marker>
            <c:symbol val="circle"/>
            <c:size val="5"/>
            <c:spPr>
              <a:solidFill>
                <a:srgbClr val="E0AAAA"/>
              </a:solidFill>
              <a:ln w="9525">
                <a:solidFill>
                  <a:srgbClr val="E0AAAA"/>
                </a:solidFill>
              </a:ln>
              <a:effectLst/>
            </c:spPr>
          </c:marker>
          <c:cat>
            <c:numRef>
              <c:f>'ANPs-2'!$B$3:$L$3</c:f>
              <c:numCache>
                <c:formatCode>m/d/yyyy</c:formatCode>
                <c:ptCount val="11"/>
                <c:pt idx="0">
                  <c:v>40179</c:v>
                </c:pt>
                <c:pt idx="1">
                  <c:v>40544</c:v>
                </c:pt>
                <c:pt idx="2">
                  <c:v>40909</c:v>
                </c:pt>
                <c:pt idx="3">
                  <c:v>41275</c:v>
                </c:pt>
                <c:pt idx="4">
                  <c:v>41640</c:v>
                </c:pt>
                <c:pt idx="5">
                  <c:v>42005</c:v>
                </c:pt>
                <c:pt idx="6">
                  <c:v>42370</c:v>
                </c:pt>
                <c:pt idx="7">
                  <c:v>42736</c:v>
                </c:pt>
                <c:pt idx="8">
                  <c:v>43101</c:v>
                </c:pt>
                <c:pt idx="9">
                  <c:v>43466</c:v>
                </c:pt>
                <c:pt idx="10">
                  <c:v>43831</c:v>
                </c:pt>
              </c:numCache>
            </c:numRef>
          </c:cat>
          <c:val>
            <c:numRef>
              <c:f>'ANPs-2'!$B$14:$L$14</c:f>
              <c:numCache>
                <c:formatCode>0.00</c:formatCode>
                <c:ptCount val="11"/>
                <c:pt idx="0">
                  <c:v>809.29381371776503</c:v>
                </c:pt>
                <c:pt idx="1">
                  <c:v>844.14565842669901</c:v>
                </c:pt>
                <c:pt idx="2">
                  <c:v>777.30232986596707</c:v>
                </c:pt>
                <c:pt idx="3">
                  <c:v>647.86139385727199</c:v>
                </c:pt>
                <c:pt idx="4">
                  <c:v>695.14200250693398</c:v>
                </c:pt>
                <c:pt idx="5">
                  <c:v>556.51431680305302</c:v>
                </c:pt>
                <c:pt idx="6">
                  <c:v>355.17458580423101</c:v>
                </c:pt>
                <c:pt idx="7">
                  <c:v>340.85999031140199</c:v>
                </c:pt>
                <c:pt idx="8">
                  <c:v>306.52917260748495</c:v>
                </c:pt>
                <c:pt idx="9">
                  <c:v>335.284446711344</c:v>
                </c:pt>
                <c:pt idx="10">
                  <c:v>263.349455846154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9FCA-46A8-B5B9-E8763EDFFEA7}"/>
            </c:ext>
          </c:extLst>
        </c:ser>
        <c:ser>
          <c:idx val="4"/>
          <c:order val="4"/>
          <c:tx>
            <c:strRef>
              <c:f>'ANPs-2'!$A$15</c:f>
              <c:strCache>
                <c:ptCount val="1"/>
                <c:pt idx="0">
                  <c:v>RB</c:v>
                </c:pt>
              </c:strCache>
            </c:strRef>
          </c:tx>
          <c:spPr>
            <a:ln w="28575" cap="rnd">
              <a:solidFill>
                <a:srgbClr val="C05555"/>
              </a:solidFill>
              <a:prstDash val="sysDash"/>
              <a:round/>
            </a:ln>
            <a:effectLst/>
          </c:spPr>
          <c:marker>
            <c:symbol val="circle"/>
            <c:size val="5"/>
            <c:spPr>
              <a:solidFill>
                <a:srgbClr val="C05555"/>
              </a:solidFill>
              <a:ln w="9525">
                <a:solidFill>
                  <a:srgbClr val="C05555"/>
                </a:solidFill>
              </a:ln>
              <a:effectLst/>
            </c:spPr>
          </c:marker>
          <c:cat>
            <c:numRef>
              <c:f>'ANPs-2'!$B$3:$L$3</c:f>
              <c:numCache>
                <c:formatCode>m/d/yyyy</c:formatCode>
                <c:ptCount val="11"/>
                <c:pt idx="0">
                  <c:v>40179</c:v>
                </c:pt>
                <c:pt idx="1">
                  <c:v>40544</c:v>
                </c:pt>
                <c:pt idx="2">
                  <c:v>40909</c:v>
                </c:pt>
                <c:pt idx="3">
                  <c:v>41275</c:v>
                </c:pt>
                <c:pt idx="4">
                  <c:v>41640</c:v>
                </c:pt>
                <c:pt idx="5">
                  <c:v>42005</c:v>
                </c:pt>
                <c:pt idx="6">
                  <c:v>42370</c:v>
                </c:pt>
                <c:pt idx="7">
                  <c:v>42736</c:v>
                </c:pt>
                <c:pt idx="8">
                  <c:v>43101</c:v>
                </c:pt>
                <c:pt idx="9">
                  <c:v>43466</c:v>
                </c:pt>
                <c:pt idx="10">
                  <c:v>43831</c:v>
                </c:pt>
              </c:numCache>
            </c:numRef>
          </c:cat>
          <c:val>
            <c:numRef>
              <c:f>'ANPs-2'!$B$15:$L$15</c:f>
              <c:numCache>
                <c:formatCode>0.00</c:formatCode>
                <c:ptCount val="11"/>
                <c:pt idx="0">
                  <c:v>1529.8372665079498</c:v>
                </c:pt>
                <c:pt idx="1">
                  <c:v>1439.85002794976</c:v>
                </c:pt>
                <c:pt idx="2">
                  <c:v>1430.3257136284699</c:v>
                </c:pt>
                <c:pt idx="3">
                  <c:v>1307.9749200108802</c:v>
                </c:pt>
                <c:pt idx="4">
                  <c:v>1361.7974719549302</c:v>
                </c:pt>
                <c:pt idx="5">
                  <c:v>1099.3712472627501</c:v>
                </c:pt>
                <c:pt idx="6">
                  <c:v>753.12130220047698</c:v>
                </c:pt>
                <c:pt idx="7">
                  <c:v>622.97983999020903</c:v>
                </c:pt>
                <c:pt idx="8">
                  <c:v>642.23988561111196</c:v>
                </c:pt>
                <c:pt idx="9">
                  <c:v>791.47627828674797</c:v>
                </c:pt>
                <c:pt idx="10">
                  <c:v>526.22049146341499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9FCA-46A8-B5B9-E8763EDFFEA7}"/>
            </c:ext>
          </c:extLst>
        </c:ser>
        <c:ser>
          <c:idx val="5"/>
          <c:order val="5"/>
          <c:tx>
            <c:strRef>
              <c:f>'ANPs-2'!$A$16</c:f>
              <c:strCache>
                <c:ptCount val="1"/>
                <c:pt idx="0">
                  <c:v>SANT</c:v>
                </c:pt>
              </c:strCache>
            </c:strRef>
          </c:tx>
          <c:spPr>
            <a:ln w="28575" cap="rnd">
              <a:solidFill>
                <a:srgbClr val="9D5F1B"/>
              </a:solidFill>
              <a:prstDash val="sysDash"/>
              <a:round/>
            </a:ln>
            <a:effectLst/>
          </c:spPr>
          <c:marker>
            <c:symbol val="circle"/>
            <c:size val="5"/>
            <c:spPr>
              <a:solidFill>
                <a:srgbClr val="9D5F1B"/>
              </a:solidFill>
              <a:ln w="9525">
                <a:solidFill>
                  <a:srgbClr val="9D5F1B"/>
                </a:solidFill>
              </a:ln>
              <a:effectLst/>
            </c:spPr>
          </c:marker>
          <c:cat>
            <c:numRef>
              <c:f>'ANPs-2'!$B$3:$L$3</c:f>
              <c:numCache>
                <c:formatCode>m/d/yyyy</c:formatCode>
                <c:ptCount val="11"/>
                <c:pt idx="0">
                  <c:v>40179</c:v>
                </c:pt>
                <c:pt idx="1">
                  <c:v>40544</c:v>
                </c:pt>
                <c:pt idx="2">
                  <c:v>40909</c:v>
                </c:pt>
                <c:pt idx="3">
                  <c:v>41275</c:v>
                </c:pt>
                <c:pt idx="4">
                  <c:v>41640</c:v>
                </c:pt>
                <c:pt idx="5">
                  <c:v>42005</c:v>
                </c:pt>
                <c:pt idx="6">
                  <c:v>42370</c:v>
                </c:pt>
                <c:pt idx="7">
                  <c:v>42736</c:v>
                </c:pt>
                <c:pt idx="8">
                  <c:v>43101</c:v>
                </c:pt>
                <c:pt idx="9">
                  <c:v>43466</c:v>
                </c:pt>
                <c:pt idx="10">
                  <c:v>43831</c:v>
                </c:pt>
              </c:numCache>
            </c:numRef>
          </c:cat>
          <c:val>
            <c:numRef>
              <c:f>'ANPs-2'!$B$16:$L$16</c:f>
              <c:numCache>
                <c:formatCode>0.00</c:formatCode>
                <c:ptCount val="11"/>
                <c:pt idx="0">
                  <c:v>782.10924416733201</c:v>
                </c:pt>
                <c:pt idx="1">
                  <c:v>546.97363779863997</c:v>
                </c:pt>
                <c:pt idx="2">
                  <c:v>609.90503420333494</c:v>
                </c:pt>
                <c:pt idx="3">
                  <c:v>513.20664222855396</c:v>
                </c:pt>
                <c:pt idx="4">
                  <c:v>685.48610261097792</c:v>
                </c:pt>
                <c:pt idx="5">
                  <c:v>394.35893188537597</c:v>
                </c:pt>
                <c:pt idx="6">
                  <c:v>370.51642930167401</c:v>
                </c:pt>
                <c:pt idx="7">
                  <c:v>317.796929249654</c:v>
                </c:pt>
                <c:pt idx="8">
                  <c:v>265.19578727735495</c:v>
                </c:pt>
                <c:pt idx="9">
                  <c:v>338.73533734703403</c:v>
                </c:pt>
                <c:pt idx="10">
                  <c:v>216.70558222222201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9FCA-46A8-B5B9-E8763EDFFEA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31372511"/>
        <c:axId val="1831373343"/>
      </c:lineChart>
      <c:dateAx>
        <c:axId val="1831372511"/>
        <c:scaling>
          <c:orientation val="minMax"/>
        </c:scaling>
        <c:delete val="0"/>
        <c:axPos val="b"/>
        <c:numFmt formatCode="yyyy" sourceLinked="0"/>
        <c:majorTickMark val="out"/>
        <c:minorTickMark val="none"/>
        <c:tickLblPos val="nextTo"/>
        <c:spPr>
          <a:noFill/>
          <a:ln w="9525" cap="flat" cmpd="sng" algn="ctr">
            <a:solidFill>
              <a:sysClr val="windowText" lastClr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ysClr val="windowText" lastClr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s-MX"/>
          </a:p>
        </c:txPr>
        <c:crossAx val="1831373343"/>
        <c:crosses val="autoZero"/>
        <c:auto val="1"/>
        <c:lblOffset val="100"/>
        <c:baseTimeUnit val="years"/>
        <c:majorUnit val="2"/>
        <c:majorTimeUnit val="years"/>
        <c:minorUnit val="2"/>
      </c:dateAx>
      <c:valAx>
        <c:axId val="1831373343"/>
        <c:scaling>
          <c:orientation val="minMax"/>
          <c:max val="1600"/>
          <c:min val="0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85000"/>
                </a:schemeClr>
              </a:solidFill>
              <a:round/>
            </a:ln>
            <a:effectLst/>
          </c:spPr>
        </c:majorGridlines>
        <c:numFmt formatCode="0" sourceLinked="0"/>
        <c:majorTickMark val="none"/>
        <c:minorTickMark val="none"/>
        <c:tickLblPos val="nextTo"/>
        <c:spPr>
          <a:noFill/>
          <a:ln>
            <a:solidFill>
              <a:schemeClr val="tx1">
                <a:lumMod val="95000"/>
                <a:lumOff val="5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ysClr val="windowText" lastClr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s-MX"/>
          </a:p>
        </c:txPr>
        <c:crossAx val="1831372511"/>
        <c:crosses val="autoZero"/>
        <c:crossBetween val="midCat"/>
        <c:majorUnit val="40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ysClr val="windowText" lastClr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s-MX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1200">
          <a:solidFill>
            <a:sysClr val="windowText" lastClr="000000"/>
          </a:solidFill>
          <a:latin typeface="Times New Roman" panose="02020603050405020304" pitchFamily="18" charset="0"/>
          <a:cs typeface="Times New Roman" panose="02020603050405020304" pitchFamily="18" charset="0"/>
        </a:defRPr>
      </a:pPr>
      <a:endParaRPr lang="es-MX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3"/>
          <c:order val="0"/>
          <c:tx>
            <c:strRef>
              <c:f>ANPs_3!$A$8</c:f>
              <c:strCache>
                <c:ptCount val="1"/>
                <c:pt idx="0">
                  <c:v>Presupuesto por kilómetro cuadrado</c:v>
                </c:pt>
              </c:strCache>
            </c:strRef>
          </c:tx>
          <c:spPr>
            <a:ln w="28575" cap="rnd">
              <a:solidFill>
                <a:srgbClr val="004D40"/>
              </a:solidFill>
              <a:prstDash val="sysDash"/>
              <a:round/>
            </a:ln>
            <a:effectLst/>
          </c:spPr>
          <c:marker>
            <c:symbol val="circle"/>
            <c:size val="5"/>
            <c:spPr>
              <a:solidFill>
                <a:srgbClr val="004D40"/>
              </a:solidFill>
              <a:ln w="9525">
                <a:noFill/>
              </a:ln>
              <a:effectLst/>
            </c:spPr>
          </c:marker>
          <c:dLbls>
            <c:dLbl>
              <c:idx val="10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6DDD-42FD-A49E-99AC9FBFECC6}"/>
                </c:ext>
              </c:extLst>
            </c:dLbl>
            <c:numFmt formatCode="#,##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s-MX"/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ANPs_3!$B$2:$L$2</c:f>
              <c:numCache>
                <c:formatCode>m/d/yyyy</c:formatCode>
                <c:ptCount val="11"/>
                <c:pt idx="0">
                  <c:v>40179</c:v>
                </c:pt>
                <c:pt idx="1">
                  <c:v>40544</c:v>
                </c:pt>
                <c:pt idx="2">
                  <c:v>40909</c:v>
                </c:pt>
                <c:pt idx="3">
                  <c:v>41275</c:v>
                </c:pt>
                <c:pt idx="4">
                  <c:v>41640</c:v>
                </c:pt>
                <c:pt idx="5">
                  <c:v>42005</c:v>
                </c:pt>
                <c:pt idx="6">
                  <c:v>42370</c:v>
                </c:pt>
                <c:pt idx="7">
                  <c:v>42736</c:v>
                </c:pt>
                <c:pt idx="8">
                  <c:v>43101</c:v>
                </c:pt>
                <c:pt idx="9">
                  <c:v>43466</c:v>
                </c:pt>
                <c:pt idx="10">
                  <c:v>43831</c:v>
                </c:pt>
              </c:numCache>
            </c:numRef>
          </c:cat>
          <c:val>
            <c:numRef>
              <c:f>ANPs_3!$B$9:$L$9</c:f>
              <c:numCache>
                <c:formatCode>General</c:formatCode>
                <c:ptCount val="11"/>
                <c:pt idx="0">
                  <c:v>610.77825762251416</c:v>
                </c:pt>
                <c:pt idx="1">
                  <c:v>607.51924679514912</c:v>
                </c:pt>
                <c:pt idx="2">
                  <c:v>612.28166245345528</c:v>
                </c:pt>
                <c:pt idx="3">
                  <c:v>566.93926326501492</c:v>
                </c:pt>
                <c:pt idx="4">
                  <c:v>600.31850748612987</c:v>
                </c:pt>
                <c:pt idx="5">
                  <c:v>486.65279832699565</c:v>
                </c:pt>
                <c:pt idx="6">
                  <c:v>332.31532578599899</c:v>
                </c:pt>
                <c:pt idx="7">
                  <c:v>102.39567358368242</c:v>
                </c:pt>
                <c:pt idx="8">
                  <c:v>79.773911200035428</c:v>
                </c:pt>
                <c:pt idx="9">
                  <c:v>93.028640520867455</c:v>
                </c:pt>
                <c:pt idx="10">
                  <c:v>66.140089678673434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DDD-42FD-A49E-99AC9FBFECC6}"/>
            </c:ext>
          </c:extLst>
        </c:ser>
        <c:ser>
          <c:idx val="0"/>
          <c:order val="1"/>
          <c:tx>
            <c:strRef>
              <c:f>ANPs_3!$A$10</c:f>
              <c:strCache>
                <c:ptCount val="1"/>
                <c:pt idx="0">
                  <c:v>Marina</c:v>
                </c:pt>
              </c:strCache>
            </c:strRef>
          </c:tx>
          <c:spPr>
            <a:ln w="28575" cap="rnd">
              <a:solidFill>
                <a:srgbClr val="072450"/>
              </a:solidFill>
              <a:prstDash val="sysDash"/>
              <a:round/>
            </a:ln>
            <a:effectLst/>
          </c:spPr>
          <c:marker>
            <c:symbol val="circle"/>
            <c:size val="5"/>
            <c:spPr>
              <a:solidFill>
                <a:srgbClr val="072450"/>
              </a:solidFill>
              <a:ln w="9525">
                <a:noFill/>
                <a:prstDash val="sysDash"/>
              </a:ln>
              <a:effectLst/>
            </c:spPr>
          </c:marker>
          <c:cat>
            <c:numRef>
              <c:f>ANPs_3!$B$2:$L$2</c:f>
              <c:numCache>
                <c:formatCode>m/d/yyyy</c:formatCode>
                <c:ptCount val="11"/>
                <c:pt idx="0">
                  <c:v>40179</c:v>
                </c:pt>
                <c:pt idx="1">
                  <c:v>40544</c:v>
                </c:pt>
                <c:pt idx="2">
                  <c:v>40909</c:v>
                </c:pt>
                <c:pt idx="3">
                  <c:v>41275</c:v>
                </c:pt>
                <c:pt idx="4">
                  <c:v>41640</c:v>
                </c:pt>
                <c:pt idx="5">
                  <c:v>42005</c:v>
                </c:pt>
                <c:pt idx="6">
                  <c:v>42370</c:v>
                </c:pt>
                <c:pt idx="7">
                  <c:v>42736</c:v>
                </c:pt>
                <c:pt idx="8">
                  <c:v>43101</c:v>
                </c:pt>
                <c:pt idx="9">
                  <c:v>43466</c:v>
                </c:pt>
                <c:pt idx="10">
                  <c:v>43831</c:v>
                </c:pt>
              </c:numCache>
            </c:numRef>
          </c:cat>
          <c:val>
            <c:numRef>
              <c:f>ANPs_3!$B$10:$L$10</c:f>
              <c:numCache>
                <c:formatCode>0.0000</c:formatCode>
                <c:ptCount val="11"/>
                <c:pt idx="0">
                  <c:v>102.64243959747429</c:v>
                </c:pt>
                <c:pt idx="1">
                  <c:v>101.55102426633155</c:v>
                </c:pt>
                <c:pt idx="2">
                  <c:v>102.34709482810271</c:v>
                </c:pt>
                <c:pt idx="3">
                  <c:v>95.365617768965507</c:v>
                </c:pt>
                <c:pt idx="4">
                  <c:v>100.9803854382137</c:v>
                </c:pt>
                <c:pt idx="5">
                  <c:v>81.860523266943787</c:v>
                </c:pt>
                <c:pt idx="6">
                  <c:v>55.878943627877568</c:v>
                </c:pt>
                <c:pt idx="7">
                  <c:v>73.629766141115056</c:v>
                </c:pt>
                <c:pt idx="8">
                  <c:v>61.003263493173392</c:v>
                </c:pt>
                <c:pt idx="9">
                  <c:v>71.139180525771494</c:v>
                </c:pt>
                <c:pt idx="10">
                  <c:v>50.577453924917265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DDD-42FD-A49E-99AC9FBFECC6}"/>
            </c:ext>
          </c:extLst>
        </c:ser>
        <c:ser>
          <c:idx val="1"/>
          <c:order val="2"/>
          <c:tx>
            <c:strRef>
              <c:f>ANPs_3!$A$11</c:f>
              <c:strCache>
                <c:ptCount val="1"/>
                <c:pt idx="0">
                  <c:v>Terrestre</c:v>
                </c:pt>
              </c:strCache>
            </c:strRef>
          </c:tx>
          <c:spPr>
            <a:ln w="28575" cap="rnd">
              <a:solidFill>
                <a:srgbClr val="E0AAAA"/>
              </a:solidFill>
              <a:prstDash val="sysDash"/>
              <a:round/>
            </a:ln>
            <a:effectLst/>
          </c:spPr>
          <c:marker>
            <c:symbol val="circle"/>
            <c:size val="5"/>
            <c:spPr>
              <a:solidFill>
                <a:srgbClr val="E0AAAA"/>
              </a:solidFill>
              <a:ln w="9525">
                <a:noFill/>
                <a:prstDash val="sysDash"/>
              </a:ln>
              <a:effectLst/>
            </c:spPr>
          </c:marker>
          <c:cat>
            <c:numRef>
              <c:f>ANPs_3!$B$2:$L$2</c:f>
              <c:numCache>
                <c:formatCode>m/d/yyyy</c:formatCode>
                <c:ptCount val="11"/>
                <c:pt idx="0">
                  <c:v>40179</c:v>
                </c:pt>
                <c:pt idx="1">
                  <c:v>40544</c:v>
                </c:pt>
                <c:pt idx="2">
                  <c:v>40909</c:v>
                </c:pt>
                <c:pt idx="3">
                  <c:v>41275</c:v>
                </c:pt>
                <c:pt idx="4">
                  <c:v>41640</c:v>
                </c:pt>
                <c:pt idx="5">
                  <c:v>42005</c:v>
                </c:pt>
                <c:pt idx="6">
                  <c:v>42370</c:v>
                </c:pt>
                <c:pt idx="7">
                  <c:v>42736</c:v>
                </c:pt>
                <c:pt idx="8">
                  <c:v>43101</c:v>
                </c:pt>
                <c:pt idx="9">
                  <c:v>43466</c:v>
                </c:pt>
                <c:pt idx="10">
                  <c:v>43831</c:v>
                </c:pt>
              </c:numCache>
            </c:numRef>
          </c:cat>
          <c:val>
            <c:numRef>
              <c:f>ANPs_3!$B$11:$L$11</c:f>
              <c:numCache>
                <c:formatCode>0.0000</c:formatCode>
                <c:ptCount val="11"/>
                <c:pt idx="0">
                  <c:v>508.13589131675968</c:v>
                </c:pt>
                <c:pt idx="1">
                  <c:v>505.96829504121354</c:v>
                </c:pt>
                <c:pt idx="2">
                  <c:v>509.93464070618182</c:v>
                </c:pt>
                <c:pt idx="3">
                  <c:v>471.57369053632283</c:v>
                </c:pt>
                <c:pt idx="4">
                  <c:v>499.33816973999092</c:v>
                </c:pt>
                <c:pt idx="5">
                  <c:v>404.79231372199774</c:v>
                </c:pt>
                <c:pt idx="6">
                  <c:v>276.43627659374869</c:v>
                </c:pt>
                <c:pt idx="7">
                  <c:v>28.765907442567364</c:v>
                </c:pt>
                <c:pt idx="8">
                  <c:v>18.770647706862036</c:v>
                </c:pt>
                <c:pt idx="9">
                  <c:v>21.889459995095965</c:v>
                </c:pt>
                <c:pt idx="10">
                  <c:v>15.562635753756167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6DDD-42FD-A49E-99AC9FBFEC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31372511"/>
        <c:axId val="1831373343"/>
      </c:lineChart>
      <c:dateAx>
        <c:axId val="1831372511"/>
        <c:scaling>
          <c:orientation val="minMax"/>
        </c:scaling>
        <c:delete val="0"/>
        <c:axPos val="b"/>
        <c:numFmt formatCode="yyyy" sourceLinked="0"/>
        <c:majorTickMark val="out"/>
        <c:minorTickMark val="none"/>
        <c:tickLblPos val="nextTo"/>
        <c:spPr>
          <a:noFill/>
          <a:ln w="9525" cap="flat" cmpd="sng" algn="ctr">
            <a:solidFill>
              <a:sysClr val="windowText" lastClr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ysClr val="windowText" lastClr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s-MX"/>
          </a:p>
        </c:txPr>
        <c:crossAx val="1831373343"/>
        <c:crosses val="autoZero"/>
        <c:auto val="1"/>
        <c:lblOffset val="100"/>
        <c:baseTimeUnit val="years"/>
        <c:majorUnit val="2"/>
        <c:majorTimeUnit val="years"/>
        <c:minorUnit val="2"/>
      </c:dateAx>
      <c:valAx>
        <c:axId val="1831373343"/>
        <c:scaling>
          <c:orientation val="minMax"/>
          <c:max val="650"/>
          <c:min val="0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85000"/>
                </a:schemeClr>
              </a:solidFill>
              <a:round/>
            </a:ln>
            <a:effectLst/>
          </c:spPr>
        </c:majorGridlines>
        <c:numFmt formatCode="0" sourceLinked="0"/>
        <c:majorTickMark val="none"/>
        <c:minorTickMark val="none"/>
        <c:tickLblPos val="nextTo"/>
        <c:spPr>
          <a:noFill/>
          <a:ln>
            <a:solidFill>
              <a:schemeClr val="tx1">
                <a:lumMod val="95000"/>
                <a:lumOff val="5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ysClr val="windowText" lastClr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s-MX"/>
          </a:p>
        </c:txPr>
        <c:crossAx val="1831372511"/>
        <c:crosses val="autoZero"/>
        <c:crossBetween val="midCat"/>
        <c:majorUnit val="15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ysClr val="windowText" lastClr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s-MX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1200">
          <a:solidFill>
            <a:sysClr val="windowText" lastClr="000000"/>
          </a:solidFill>
          <a:latin typeface="Times New Roman" panose="02020603050405020304" pitchFamily="18" charset="0"/>
          <a:cs typeface="Times New Roman" panose="02020603050405020304" pitchFamily="18" charset="0"/>
        </a:defRPr>
      </a:pPr>
      <a:endParaRPr lang="es-MX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3"/>
          <c:order val="0"/>
          <c:tx>
            <c:strRef>
              <c:f>ANPs_3!$A$8</c:f>
              <c:strCache>
                <c:ptCount val="1"/>
                <c:pt idx="0">
                  <c:v>Presupuesto por kilómetro cuadrado</c:v>
                </c:pt>
              </c:strCache>
            </c:strRef>
          </c:tx>
          <c:spPr>
            <a:ln w="28575" cap="rnd">
              <a:solidFill>
                <a:srgbClr val="004D40"/>
              </a:solidFill>
              <a:prstDash val="sysDash"/>
              <a:round/>
            </a:ln>
            <a:effectLst/>
          </c:spPr>
          <c:marker>
            <c:symbol val="circle"/>
            <c:size val="5"/>
            <c:spPr>
              <a:solidFill>
                <a:srgbClr val="004D40"/>
              </a:solidFill>
              <a:ln w="9525">
                <a:noFill/>
              </a:ln>
              <a:effectLst/>
            </c:spPr>
          </c:marker>
          <c:dLbls>
            <c:dLbl>
              <c:idx val="10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63A9-4DDC-B008-798A217C5636}"/>
                </c:ext>
              </c:extLst>
            </c:dLbl>
            <c:numFmt formatCode="#,##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s-MX"/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ANPs_3!$B$2:$L$2</c:f>
              <c:numCache>
                <c:formatCode>m/d/yyyy</c:formatCode>
                <c:ptCount val="11"/>
                <c:pt idx="0">
                  <c:v>40179</c:v>
                </c:pt>
                <c:pt idx="1">
                  <c:v>40544</c:v>
                </c:pt>
                <c:pt idx="2">
                  <c:v>40909</c:v>
                </c:pt>
                <c:pt idx="3">
                  <c:v>41275</c:v>
                </c:pt>
                <c:pt idx="4">
                  <c:v>41640</c:v>
                </c:pt>
                <c:pt idx="5">
                  <c:v>42005</c:v>
                </c:pt>
                <c:pt idx="6">
                  <c:v>42370</c:v>
                </c:pt>
                <c:pt idx="7">
                  <c:v>42736</c:v>
                </c:pt>
                <c:pt idx="8">
                  <c:v>43101</c:v>
                </c:pt>
                <c:pt idx="9">
                  <c:v>43466</c:v>
                </c:pt>
                <c:pt idx="10">
                  <c:v>43831</c:v>
                </c:pt>
              </c:numCache>
            </c:numRef>
          </c:cat>
          <c:val>
            <c:numRef>
              <c:f>ANPs_3!$B$9:$L$9</c:f>
              <c:numCache>
                <c:formatCode>General</c:formatCode>
                <c:ptCount val="11"/>
                <c:pt idx="0">
                  <c:v>610.77825762251416</c:v>
                </c:pt>
                <c:pt idx="1">
                  <c:v>607.51924679514912</c:v>
                </c:pt>
                <c:pt idx="2">
                  <c:v>612.28166245345528</c:v>
                </c:pt>
                <c:pt idx="3">
                  <c:v>566.93926326501492</c:v>
                </c:pt>
                <c:pt idx="4">
                  <c:v>600.31850748612987</c:v>
                </c:pt>
                <c:pt idx="5">
                  <c:v>486.65279832699565</c:v>
                </c:pt>
                <c:pt idx="6">
                  <c:v>332.31532578599899</c:v>
                </c:pt>
                <c:pt idx="7">
                  <c:v>102.39567358368242</c:v>
                </c:pt>
                <c:pt idx="8">
                  <c:v>79.773911200035428</c:v>
                </c:pt>
                <c:pt idx="9">
                  <c:v>93.028640520867455</c:v>
                </c:pt>
                <c:pt idx="10">
                  <c:v>66.140089678673434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3A9-4DDC-B008-798A217C5636}"/>
            </c:ext>
          </c:extLst>
        </c:ser>
        <c:ser>
          <c:idx val="0"/>
          <c:order val="1"/>
          <c:tx>
            <c:strRef>
              <c:f>ANPs_3!$A$10</c:f>
              <c:strCache>
                <c:ptCount val="1"/>
                <c:pt idx="0">
                  <c:v>Marina</c:v>
                </c:pt>
              </c:strCache>
            </c:strRef>
          </c:tx>
          <c:spPr>
            <a:ln w="28575" cap="rnd">
              <a:solidFill>
                <a:srgbClr val="072450"/>
              </a:solidFill>
              <a:prstDash val="sysDash"/>
              <a:round/>
            </a:ln>
            <a:effectLst/>
          </c:spPr>
          <c:marker>
            <c:symbol val="circle"/>
            <c:size val="5"/>
            <c:spPr>
              <a:solidFill>
                <a:srgbClr val="072450"/>
              </a:solidFill>
              <a:ln w="9525">
                <a:noFill/>
                <a:prstDash val="sysDash"/>
              </a:ln>
              <a:effectLst/>
            </c:spPr>
          </c:marker>
          <c:cat>
            <c:numRef>
              <c:f>ANPs_3!$B$2:$L$2</c:f>
              <c:numCache>
                <c:formatCode>m/d/yyyy</c:formatCode>
                <c:ptCount val="11"/>
                <c:pt idx="0">
                  <c:v>40179</c:v>
                </c:pt>
                <c:pt idx="1">
                  <c:v>40544</c:v>
                </c:pt>
                <c:pt idx="2">
                  <c:v>40909</c:v>
                </c:pt>
                <c:pt idx="3">
                  <c:v>41275</c:v>
                </c:pt>
                <c:pt idx="4">
                  <c:v>41640</c:v>
                </c:pt>
                <c:pt idx="5">
                  <c:v>42005</c:v>
                </c:pt>
                <c:pt idx="6">
                  <c:v>42370</c:v>
                </c:pt>
                <c:pt idx="7">
                  <c:v>42736</c:v>
                </c:pt>
                <c:pt idx="8">
                  <c:v>43101</c:v>
                </c:pt>
                <c:pt idx="9">
                  <c:v>43466</c:v>
                </c:pt>
                <c:pt idx="10">
                  <c:v>43831</c:v>
                </c:pt>
              </c:numCache>
            </c:numRef>
          </c:cat>
          <c:val>
            <c:numRef>
              <c:f>ANPs_3!$B$10:$L$10</c:f>
              <c:numCache>
                <c:formatCode>0.0000</c:formatCode>
                <c:ptCount val="11"/>
                <c:pt idx="0">
                  <c:v>102.64243959747429</c:v>
                </c:pt>
                <c:pt idx="1">
                  <c:v>101.55102426633155</c:v>
                </c:pt>
                <c:pt idx="2">
                  <c:v>102.34709482810271</c:v>
                </c:pt>
                <c:pt idx="3">
                  <c:v>95.365617768965507</c:v>
                </c:pt>
                <c:pt idx="4">
                  <c:v>100.9803854382137</c:v>
                </c:pt>
                <c:pt idx="5">
                  <c:v>81.860523266943787</c:v>
                </c:pt>
                <c:pt idx="6">
                  <c:v>55.878943627877568</c:v>
                </c:pt>
                <c:pt idx="7">
                  <c:v>73.629766141115056</c:v>
                </c:pt>
                <c:pt idx="8">
                  <c:v>61.003263493173392</c:v>
                </c:pt>
                <c:pt idx="9">
                  <c:v>71.139180525771494</c:v>
                </c:pt>
                <c:pt idx="10">
                  <c:v>50.577453924917265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3A9-4DDC-B008-798A217C5636}"/>
            </c:ext>
          </c:extLst>
        </c:ser>
        <c:ser>
          <c:idx val="1"/>
          <c:order val="2"/>
          <c:tx>
            <c:strRef>
              <c:f>ANPs_3!$A$11</c:f>
              <c:strCache>
                <c:ptCount val="1"/>
                <c:pt idx="0">
                  <c:v>Terrestre</c:v>
                </c:pt>
              </c:strCache>
            </c:strRef>
          </c:tx>
          <c:spPr>
            <a:ln w="28575" cap="rnd">
              <a:solidFill>
                <a:srgbClr val="E0AAAA"/>
              </a:solidFill>
              <a:prstDash val="sysDash"/>
              <a:round/>
            </a:ln>
            <a:effectLst/>
          </c:spPr>
          <c:marker>
            <c:symbol val="circle"/>
            <c:size val="5"/>
            <c:spPr>
              <a:solidFill>
                <a:srgbClr val="E0AAAA"/>
              </a:solidFill>
              <a:ln w="9525">
                <a:noFill/>
                <a:prstDash val="sysDash"/>
              </a:ln>
              <a:effectLst/>
            </c:spPr>
          </c:marker>
          <c:cat>
            <c:numRef>
              <c:f>ANPs_3!$B$2:$L$2</c:f>
              <c:numCache>
                <c:formatCode>m/d/yyyy</c:formatCode>
                <c:ptCount val="11"/>
                <c:pt idx="0">
                  <c:v>40179</c:v>
                </c:pt>
                <c:pt idx="1">
                  <c:v>40544</c:v>
                </c:pt>
                <c:pt idx="2">
                  <c:v>40909</c:v>
                </c:pt>
                <c:pt idx="3">
                  <c:v>41275</c:v>
                </c:pt>
                <c:pt idx="4">
                  <c:v>41640</c:v>
                </c:pt>
                <c:pt idx="5">
                  <c:v>42005</c:v>
                </c:pt>
                <c:pt idx="6">
                  <c:v>42370</c:v>
                </c:pt>
                <c:pt idx="7">
                  <c:v>42736</c:v>
                </c:pt>
                <c:pt idx="8">
                  <c:v>43101</c:v>
                </c:pt>
                <c:pt idx="9">
                  <c:v>43466</c:v>
                </c:pt>
                <c:pt idx="10">
                  <c:v>43831</c:v>
                </c:pt>
              </c:numCache>
            </c:numRef>
          </c:cat>
          <c:val>
            <c:numRef>
              <c:f>ANPs_3!$B$11:$L$11</c:f>
              <c:numCache>
                <c:formatCode>0.0000</c:formatCode>
                <c:ptCount val="11"/>
                <c:pt idx="0">
                  <c:v>508.13589131675968</c:v>
                </c:pt>
                <c:pt idx="1">
                  <c:v>505.96829504121354</c:v>
                </c:pt>
                <c:pt idx="2">
                  <c:v>509.93464070618182</c:v>
                </c:pt>
                <c:pt idx="3">
                  <c:v>471.57369053632283</c:v>
                </c:pt>
                <c:pt idx="4">
                  <c:v>499.33816973999092</c:v>
                </c:pt>
                <c:pt idx="5">
                  <c:v>404.79231372199774</c:v>
                </c:pt>
                <c:pt idx="6">
                  <c:v>276.43627659374869</c:v>
                </c:pt>
                <c:pt idx="7">
                  <c:v>28.765907442567364</c:v>
                </c:pt>
                <c:pt idx="8">
                  <c:v>18.770647706862036</c:v>
                </c:pt>
                <c:pt idx="9">
                  <c:v>21.889459995095965</c:v>
                </c:pt>
                <c:pt idx="10">
                  <c:v>15.562635753756167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63A9-4DDC-B008-798A217C56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31372511"/>
        <c:axId val="1831373343"/>
      </c:lineChart>
      <c:dateAx>
        <c:axId val="1831372511"/>
        <c:scaling>
          <c:orientation val="minMax"/>
        </c:scaling>
        <c:delete val="0"/>
        <c:axPos val="b"/>
        <c:numFmt formatCode="yyyy" sourceLinked="0"/>
        <c:majorTickMark val="out"/>
        <c:minorTickMark val="none"/>
        <c:tickLblPos val="nextTo"/>
        <c:spPr>
          <a:noFill/>
          <a:ln w="9525" cap="flat" cmpd="sng" algn="ctr">
            <a:solidFill>
              <a:sysClr val="windowText" lastClr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ysClr val="windowText" lastClr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s-MX"/>
          </a:p>
        </c:txPr>
        <c:crossAx val="1831373343"/>
        <c:crosses val="autoZero"/>
        <c:auto val="1"/>
        <c:lblOffset val="100"/>
        <c:baseTimeUnit val="years"/>
        <c:majorUnit val="2"/>
        <c:majorTimeUnit val="years"/>
        <c:minorUnit val="2"/>
      </c:dateAx>
      <c:valAx>
        <c:axId val="1831373343"/>
        <c:scaling>
          <c:orientation val="minMax"/>
          <c:max val="650"/>
          <c:min val="0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85000"/>
                </a:schemeClr>
              </a:solidFill>
              <a:round/>
            </a:ln>
            <a:effectLst/>
          </c:spPr>
        </c:majorGridlines>
        <c:numFmt formatCode="0" sourceLinked="0"/>
        <c:majorTickMark val="none"/>
        <c:minorTickMark val="none"/>
        <c:tickLblPos val="nextTo"/>
        <c:spPr>
          <a:noFill/>
          <a:ln>
            <a:solidFill>
              <a:schemeClr val="tx1">
                <a:lumMod val="95000"/>
                <a:lumOff val="5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ysClr val="windowText" lastClr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s-MX"/>
          </a:p>
        </c:txPr>
        <c:crossAx val="1831372511"/>
        <c:crosses val="autoZero"/>
        <c:crossBetween val="midCat"/>
        <c:majorUnit val="15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ysClr val="windowText" lastClr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s-MX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1200">
          <a:solidFill>
            <a:sysClr val="windowText" lastClr="000000"/>
          </a:solidFill>
          <a:latin typeface="Times New Roman" panose="02020603050405020304" pitchFamily="18" charset="0"/>
          <a:cs typeface="Times New Roman" panose="02020603050405020304" pitchFamily="18" charset="0"/>
        </a:defRPr>
      </a:pPr>
      <a:endParaRPr lang="es-MX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984050427869974E-2"/>
          <c:y val="0.14869523862830564"/>
          <c:w val="0.77263028816676882"/>
          <c:h val="0.70153570967563483"/>
        </c:manualLayout>
      </c:layout>
      <c:lineChart>
        <c:grouping val="standard"/>
        <c:varyColors val="0"/>
        <c:ser>
          <c:idx val="0"/>
          <c:order val="0"/>
          <c:tx>
            <c:strRef>
              <c:f>'Fig 1'!$A$11</c:f>
              <c:strCache>
                <c:ptCount val="1"/>
                <c:pt idx="0">
                  <c:v>APFF</c:v>
                </c:pt>
              </c:strCache>
            </c:strRef>
          </c:tx>
          <c:spPr>
            <a:ln w="28575" cap="rnd">
              <a:solidFill>
                <a:schemeClr val="accent4"/>
              </a:solidFill>
              <a:prstDash val="sysDash"/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dLbls>
            <c:dLbl>
              <c:idx val="10"/>
              <c:layout>
                <c:manualLayout>
                  <c:x val="-4.9064732520689037E-3"/>
                  <c:y val="1.4053772431315828E-2"/>
                </c:manualLayout>
              </c:layout>
              <c:tx>
                <c:rich>
                  <a:bodyPr/>
                  <a:lstStyle/>
                  <a:p>
                    <a:fld id="{232163BA-6163-4DCC-9E96-D5C3483CFD69}" type="VALUE">
                      <a:rPr lang="en-US" b="1">
                        <a:solidFill>
                          <a:schemeClr val="accent4"/>
                        </a:solidFill>
                      </a:rPr>
                      <a:pPr/>
                      <a:t>[VALOR]</a:t>
                    </a:fld>
                    <a:endParaRPr lang="es-MX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9D3A-48D0-8ACE-D834B091BC8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s-MX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'Fig 1'!$B$3:$L$3</c:f>
              <c:numCache>
                <c:formatCode>m/d/yyyy</c:formatCode>
                <c:ptCount val="11"/>
                <c:pt idx="0">
                  <c:v>40179</c:v>
                </c:pt>
                <c:pt idx="1">
                  <c:v>40544</c:v>
                </c:pt>
                <c:pt idx="2">
                  <c:v>40909</c:v>
                </c:pt>
                <c:pt idx="3">
                  <c:v>41275</c:v>
                </c:pt>
                <c:pt idx="4">
                  <c:v>41640</c:v>
                </c:pt>
                <c:pt idx="5">
                  <c:v>42005</c:v>
                </c:pt>
                <c:pt idx="6">
                  <c:v>42370</c:v>
                </c:pt>
                <c:pt idx="7">
                  <c:v>42736</c:v>
                </c:pt>
                <c:pt idx="8">
                  <c:v>43101</c:v>
                </c:pt>
                <c:pt idx="9">
                  <c:v>43466</c:v>
                </c:pt>
                <c:pt idx="10">
                  <c:v>43831</c:v>
                </c:pt>
              </c:numCache>
            </c:numRef>
          </c:cat>
          <c:val>
            <c:numRef>
              <c:f>'Fig 1'!$B$11:$L$11</c:f>
              <c:numCache>
                <c:formatCode>0.0</c:formatCode>
                <c:ptCount val="11"/>
                <c:pt idx="0">
                  <c:v>823.23358173074394</c:v>
                </c:pt>
                <c:pt idx="1">
                  <c:v>921.05782608683103</c:v>
                </c:pt>
                <c:pt idx="2">
                  <c:v>986.51658334445199</c:v>
                </c:pt>
                <c:pt idx="3">
                  <c:v>1031.8212611101999</c:v>
                </c:pt>
                <c:pt idx="4">
                  <c:v>1053.15527448637</c:v>
                </c:pt>
                <c:pt idx="5">
                  <c:v>909.60281133454203</c:v>
                </c:pt>
                <c:pt idx="6">
                  <c:v>627.905776763061</c:v>
                </c:pt>
                <c:pt idx="7">
                  <c:v>614.482816545883</c:v>
                </c:pt>
                <c:pt idx="8">
                  <c:v>563.68416001811795</c:v>
                </c:pt>
                <c:pt idx="9">
                  <c:v>673.87929841582502</c:v>
                </c:pt>
                <c:pt idx="10">
                  <c:v>461.76057888888897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D3A-48D0-8ACE-D834B091BC85}"/>
            </c:ext>
          </c:extLst>
        </c:ser>
        <c:ser>
          <c:idx val="1"/>
          <c:order val="1"/>
          <c:tx>
            <c:strRef>
              <c:f>'Fig 1'!$A$12</c:f>
              <c:strCache>
                <c:ptCount val="1"/>
                <c:pt idx="0">
                  <c:v>APRN</c:v>
                </c:pt>
              </c:strCache>
            </c:strRef>
          </c:tx>
          <c:spPr>
            <a:ln w="28575" cap="rnd">
              <a:solidFill>
                <a:srgbClr val="072450"/>
              </a:solidFill>
              <a:prstDash val="sysDash"/>
              <a:round/>
            </a:ln>
            <a:effectLst/>
          </c:spPr>
          <c:marker>
            <c:symbol val="circle"/>
            <c:size val="5"/>
            <c:spPr>
              <a:solidFill>
                <a:srgbClr val="072450"/>
              </a:solidFill>
              <a:ln w="9525">
                <a:solidFill>
                  <a:srgbClr val="072450"/>
                </a:solidFill>
              </a:ln>
              <a:effectLst/>
            </c:spPr>
          </c:marker>
          <c:dLbls>
            <c:dLbl>
              <c:idx val="10"/>
              <c:layout>
                <c:manualLayout>
                  <c:x val="-4.9033815865036435E-3"/>
                  <c:y val="-9.3566362453609778E-3"/>
                </c:manualLayout>
              </c:layout>
              <c:tx>
                <c:rich>
                  <a:bodyPr/>
                  <a:lstStyle/>
                  <a:p>
                    <a:fld id="{EEF2E51E-D4E1-4C35-BFC6-00C5195736F2}" type="VALUE">
                      <a:rPr lang="en-US" b="1">
                        <a:solidFill>
                          <a:srgbClr val="072450"/>
                        </a:solidFill>
                      </a:rPr>
                      <a:pPr/>
                      <a:t>[VALOR]</a:t>
                    </a:fld>
                    <a:endParaRPr lang="es-MX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9D3A-48D0-8ACE-D834B091BC8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s-MX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'Fig 1'!$B$3:$L$3</c:f>
              <c:numCache>
                <c:formatCode>m/d/yyyy</c:formatCode>
                <c:ptCount val="11"/>
                <c:pt idx="0">
                  <c:v>40179</c:v>
                </c:pt>
                <c:pt idx="1">
                  <c:v>40544</c:v>
                </c:pt>
                <c:pt idx="2">
                  <c:v>40909</c:v>
                </c:pt>
                <c:pt idx="3">
                  <c:v>41275</c:v>
                </c:pt>
                <c:pt idx="4">
                  <c:v>41640</c:v>
                </c:pt>
                <c:pt idx="5">
                  <c:v>42005</c:v>
                </c:pt>
                <c:pt idx="6">
                  <c:v>42370</c:v>
                </c:pt>
                <c:pt idx="7">
                  <c:v>42736</c:v>
                </c:pt>
                <c:pt idx="8">
                  <c:v>43101</c:v>
                </c:pt>
                <c:pt idx="9">
                  <c:v>43466</c:v>
                </c:pt>
                <c:pt idx="10">
                  <c:v>43831</c:v>
                </c:pt>
              </c:numCache>
            </c:numRef>
          </c:cat>
          <c:val>
            <c:numRef>
              <c:f>'Fig 1'!$B$12:$L$12</c:f>
              <c:numCache>
                <c:formatCode>0.0</c:formatCode>
                <c:ptCount val="11"/>
                <c:pt idx="0">
                  <c:v>760.38477518172203</c:v>
                </c:pt>
                <c:pt idx="1">
                  <c:v>712.49612112455702</c:v>
                </c:pt>
                <c:pt idx="2">
                  <c:v>761.30552421920504</c:v>
                </c:pt>
                <c:pt idx="3">
                  <c:v>1270.02831463079</c:v>
                </c:pt>
                <c:pt idx="4">
                  <c:v>1194.45732454321</c:v>
                </c:pt>
                <c:pt idx="5">
                  <c:v>1021.92400965422</c:v>
                </c:pt>
                <c:pt idx="6">
                  <c:v>860.288645461138</c:v>
                </c:pt>
                <c:pt idx="7">
                  <c:v>835.01436320789298</c:v>
                </c:pt>
                <c:pt idx="8">
                  <c:v>714.43404825629204</c:v>
                </c:pt>
                <c:pt idx="9">
                  <c:v>764.89730047556202</c:v>
                </c:pt>
                <c:pt idx="10">
                  <c:v>639.31365500000004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9D3A-48D0-8ACE-D834B091BC85}"/>
            </c:ext>
          </c:extLst>
        </c:ser>
        <c:ser>
          <c:idx val="2"/>
          <c:order val="2"/>
          <c:tx>
            <c:strRef>
              <c:f>'Fig 1'!$A$13</c:f>
              <c:strCache>
                <c:ptCount val="1"/>
                <c:pt idx="0">
                  <c:v>MN</c:v>
                </c:pt>
              </c:strCache>
            </c:strRef>
          </c:tx>
          <c:spPr>
            <a:ln w="28575" cap="rnd">
              <a:solidFill>
                <a:srgbClr val="59886B"/>
              </a:solidFill>
              <a:prstDash val="dash"/>
              <a:round/>
            </a:ln>
            <a:effectLst/>
          </c:spPr>
          <c:marker>
            <c:symbol val="plus"/>
            <c:size val="5"/>
            <c:spPr>
              <a:solidFill>
                <a:srgbClr val="59886B"/>
              </a:solidFill>
              <a:ln w="9525">
                <a:solidFill>
                  <a:srgbClr val="59886B"/>
                </a:solidFill>
              </a:ln>
              <a:effectLst/>
            </c:spPr>
          </c:marker>
          <c:dLbls>
            <c:dLbl>
              <c:idx val="10"/>
              <c:tx>
                <c:rich>
                  <a:bodyPr/>
                  <a:lstStyle/>
                  <a:p>
                    <a:fld id="{21B2CA9D-A788-4C37-9CF7-3BE68E25BA40}" type="VALUE">
                      <a:rPr lang="en-US" b="1">
                        <a:solidFill>
                          <a:srgbClr val="59886B"/>
                        </a:solidFill>
                      </a:rPr>
                      <a:pPr/>
                      <a:t>[VALOR]</a:t>
                    </a:fld>
                    <a:endParaRPr lang="es-MX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9D3A-48D0-8ACE-D834B091BC8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s-MX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'Fig 1'!$B$3:$L$3</c:f>
              <c:numCache>
                <c:formatCode>m/d/yyyy</c:formatCode>
                <c:ptCount val="11"/>
                <c:pt idx="0">
                  <c:v>40179</c:v>
                </c:pt>
                <c:pt idx="1">
                  <c:v>40544</c:v>
                </c:pt>
                <c:pt idx="2">
                  <c:v>40909</c:v>
                </c:pt>
                <c:pt idx="3">
                  <c:v>41275</c:v>
                </c:pt>
                <c:pt idx="4">
                  <c:v>41640</c:v>
                </c:pt>
                <c:pt idx="5">
                  <c:v>42005</c:v>
                </c:pt>
                <c:pt idx="6">
                  <c:v>42370</c:v>
                </c:pt>
                <c:pt idx="7">
                  <c:v>42736</c:v>
                </c:pt>
                <c:pt idx="8">
                  <c:v>43101</c:v>
                </c:pt>
                <c:pt idx="9">
                  <c:v>43466</c:v>
                </c:pt>
                <c:pt idx="10">
                  <c:v>43831</c:v>
                </c:pt>
              </c:numCache>
            </c:numRef>
          </c:cat>
          <c:val>
            <c:numRef>
              <c:f>'Fig 1'!$B$13:$L$13</c:f>
              <c:numCache>
                <c:formatCode>0.0</c:formatCode>
                <c:ptCount val="11"/>
                <c:pt idx="0">
                  <c:v>413.06225897391403</c:v>
                </c:pt>
                <c:pt idx="1">
                  <c:v>346.26764517007001</c:v>
                </c:pt>
                <c:pt idx="2">
                  <c:v>366.64384210745101</c:v>
                </c:pt>
                <c:pt idx="3">
                  <c:v>246.951314466317</c:v>
                </c:pt>
                <c:pt idx="4">
                  <c:v>196.84216116187301</c:v>
                </c:pt>
                <c:pt idx="5">
                  <c:v>144.087981987582</c:v>
                </c:pt>
                <c:pt idx="6">
                  <c:v>58.154241082316801</c:v>
                </c:pt>
                <c:pt idx="7">
                  <c:v>25.8513840605365</c:v>
                </c:pt>
                <c:pt idx="8">
                  <c:v>15.734494744640401</c:v>
                </c:pt>
                <c:pt idx="9">
                  <c:v>24.670061064558102</c:v>
                </c:pt>
                <c:pt idx="10">
                  <c:v>25.750356666666701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9D3A-48D0-8ACE-D834B091BC85}"/>
            </c:ext>
          </c:extLst>
        </c:ser>
        <c:ser>
          <c:idx val="3"/>
          <c:order val="3"/>
          <c:tx>
            <c:strRef>
              <c:f>'Fig 1'!$A$14</c:f>
              <c:strCache>
                <c:ptCount val="1"/>
                <c:pt idx="0">
                  <c:v>PN</c:v>
                </c:pt>
              </c:strCache>
            </c:strRef>
          </c:tx>
          <c:spPr>
            <a:ln w="28575" cap="rnd">
              <a:solidFill>
                <a:srgbClr val="E0AAAA"/>
              </a:solidFill>
              <a:prstDash val="sysDash"/>
              <a:round/>
            </a:ln>
            <a:effectLst/>
          </c:spPr>
          <c:marker>
            <c:symbol val="circle"/>
            <c:size val="5"/>
            <c:spPr>
              <a:solidFill>
                <a:srgbClr val="E0AAAA"/>
              </a:solidFill>
              <a:ln w="9525">
                <a:solidFill>
                  <a:srgbClr val="E0AAAA"/>
                </a:solidFill>
              </a:ln>
              <a:effectLst/>
            </c:spPr>
          </c:marker>
          <c:dLbls>
            <c:dLbl>
              <c:idx val="10"/>
              <c:layout>
                <c:manualLayout>
                  <c:x val="-4.9080648771452889E-3"/>
                  <c:y val="-1.4079761343893649E-2"/>
                </c:manualLayout>
              </c:layout>
              <c:tx>
                <c:rich>
                  <a:bodyPr/>
                  <a:lstStyle/>
                  <a:p>
                    <a:fld id="{125518B9-760E-45A0-8FB0-941CA2E42A16}" type="VALUE">
                      <a:rPr lang="en-US" b="1">
                        <a:solidFill>
                          <a:srgbClr val="E0AAAA"/>
                        </a:solidFill>
                      </a:rPr>
                      <a:pPr/>
                      <a:t>[VALOR]</a:t>
                    </a:fld>
                    <a:endParaRPr lang="es-MX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6-9D3A-48D0-8ACE-D834B091BC8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s-MX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'Fig 1'!$B$3:$L$3</c:f>
              <c:numCache>
                <c:formatCode>m/d/yyyy</c:formatCode>
                <c:ptCount val="11"/>
                <c:pt idx="0">
                  <c:v>40179</c:v>
                </c:pt>
                <c:pt idx="1">
                  <c:v>40544</c:v>
                </c:pt>
                <c:pt idx="2">
                  <c:v>40909</c:v>
                </c:pt>
                <c:pt idx="3">
                  <c:v>41275</c:v>
                </c:pt>
                <c:pt idx="4">
                  <c:v>41640</c:v>
                </c:pt>
                <c:pt idx="5">
                  <c:v>42005</c:v>
                </c:pt>
                <c:pt idx="6">
                  <c:v>42370</c:v>
                </c:pt>
                <c:pt idx="7">
                  <c:v>42736</c:v>
                </c:pt>
                <c:pt idx="8">
                  <c:v>43101</c:v>
                </c:pt>
                <c:pt idx="9">
                  <c:v>43466</c:v>
                </c:pt>
                <c:pt idx="10">
                  <c:v>43831</c:v>
                </c:pt>
              </c:numCache>
            </c:numRef>
          </c:cat>
          <c:val>
            <c:numRef>
              <c:f>'Fig 1'!$B$14:$L$14</c:f>
              <c:numCache>
                <c:formatCode>0.0</c:formatCode>
                <c:ptCount val="11"/>
                <c:pt idx="0">
                  <c:v>809.29381371776503</c:v>
                </c:pt>
                <c:pt idx="1">
                  <c:v>844.14565842669901</c:v>
                </c:pt>
                <c:pt idx="2">
                  <c:v>777.30232986596707</c:v>
                </c:pt>
                <c:pt idx="3">
                  <c:v>647.86139385727199</c:v>
                </c:pt>
                <c:pt idx="4">
                  <c:v>695.14200250693398</c:v>
                </c:pt>
                <c:pt idx="5">
                  <c:v>556.51431680305302</c:v>
                </c:pt>
                <c:pt idx="6">
                  <c:v>355.17458580423101</c:v>
                </c:pt>
                <c:pt idx="7">
                  <c:v>340.85999031140199</c:v>
                </c:pt>
                <c:pt idx="8">
                  <c:v>306.52917260748495</c:v>
                </c:pt>
                <c:pt idx="9">
                  <c:v>335.284446711344</c:v>
                </c:pt>
                <c:pt idx="10">
                  <c:v>263.349455846154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9D3A-48D0-8ACE-D834B091BC85}"/>
            </c:ext>
          </c:extLst>
        </c:ser>
        <c:ser>
          <c:idx val="4"/>
          <c:order val="4"/>
          <c:tx>
            <c:strRef>
              <c:f>'Fig 1'!$A$15</c:f>
              <c:strCache>
                <c:ptCount val="1"/>
                <c:pt idx="0">
                  <c:v>RB</c:v>
                </c:pt>
              </c:strCache>
            </c:strRef>
          </c:tx>
          <c:spPr>
            <a:ln w="28575" cap="rnd">
              <a:solidFill>
                <a:srgbClr val="C05555"/>
              </a:solidFill>
              <a:prstDash val="sysDash"/>
              <a:round/>
            </a:ln>
            <a:effectLst/>
          </c:spPr>
          <c:marker>
            <c:symbol val="circle"/>
            <c:size val="5"/>
            <c:spPr>
              <a:solidFill>
                <a:srgbClr val="C05555"/>
              </a:solidFill>
              <a:ln w="9525">
                <a:solidFill>
                  <a:srgbClr val="C05555"/>
                </a:solidFill>
              </a:ln>
              <a:effectLst/>
            </c:spPr>
          </c:marker>
          <c:dLbls>
            <c:dLbl>
              <c:idx val="10"/>
              <c:layout>
                <c:manualLayout>
                  <c:x val="-4.9064732520689037E-3"/>
                  <c:y val="-4.6772111777820787E-3"/>
                </c:manualLayout>
              </c:layout>
              <c:tx>
                <c:rich>
                  <a:bodyPr/>
                  <a:lstStyle/>
                  <a:p>
                    <a:fld id="{DCA61540-FF51-4105-B91C-50E376D561B6}" type="VALUE">
                      <a:rPr lang="en-US" b="1">
                        <a:solidFill>
                          <a:srgbClr val="C05555"/>
                        </a:solidFill>
                      </a:rPr>
                      <a:pPr/>
                      <a:t>[VALOR]</a:t>
                    </a:fld>
                    <a:endParaRPr lang="es-MX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8-9D3A-48D0-8ACE-D834B091BC8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s-MX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'Fig 1'!$B$3:$L$3</c:f>
              <c:numCache>
                <c:formatCode>m/d/yyyy</c:formatCode>
                <c:ptCount val="11"/>
                <c:pt idx="0">
                  <c:v>40179</c:v>
                </c:pt>
                <c:pt idx="1">
                  <c:v>40544</c:v>
                </c:pt>
                <c:pt idx="2">
                  <c:v>40909</c:v>
                </c:pt>
                <c:pt idx="3">
                  <c:v>41275</c:v>
                </c:pt>
                <c:pt idx="4">
                  <c:v>41640</c:v>
                </c:pt>
                <c:pt idx="5">
                  <c:v>42005</c:v>
                </c:pt>
                <c:pt idx="6">
                  <c:v>42370</c:v>
                </c:pt>
                <c:pt idx="7">
                  <c:v>42736</c:v>
                </c:pt>
                <c:pt idx="8">
                  <c:v>43101</c:v>
                </c:pt>
                <c:pt idx="9">
                  <c:v>43466</c:v>
                </c:pt>
                <c:pt idx="10">
                  <c:v>43831</c:v>
                </c:pt>
              </c:numCache>
            </c:numRef>
          </c:cat>
          <c:val>
            <c:numRef>
              <c:f>'Fig 1'!$B$15:$L$15</c:f>
              <c:numCache>
                <c:formatCode>0.0</c:formatCode>
                <c:ptCount val="11"/>
                <c:pt idx="0">
                  <c:v>1529.8372665079498</c:v>
                </c:pt>
                <c:pt idx="1">
                  <c:v>1439.85002794976</c:v>
                </c:pt>
                <c:pt idx="2">
                  <c:v>1430.3257136284699</c:v>
                </c:pt>
                <c:pt idx="3">
                  <c:v>1307.9749200108802</c:v>
                </c:pt>
                <c:pt idx="4">
                  <c:v>1361.7974719549302</c:v>
                </c:pt>
                <c:pt idx="5">
                  <c:v>1099.3712472627501</c:v>
                </c:pt>
                <c:pt idx="6">
                  <c:v>753.12130220047698</c:v>
                </c:pt>
                <c:pt idx="7">
                  <c:v>622.97983999020903</c:v>
                </c:pt>
                <c:pt idx="8">
                  <c:v>642.23988561111196</c:v>
                </c:pt>
                <c:pt idx="9">
                  <c:v>791.47627828674797</c:v>
                </c:pt>
                <c:pt idx="10">
                  <c:v>526.22049146341499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9D3A-48D0-8ACE-D834B091BC85}"/>
            </c:ext>
          </c:extLst>
        </c:ser>
        <c:ser>
          <c:idx val="5"/>
          <c:order val="5"/>
          <c:tx>
            <c:strRef>
              <c:f>'Fig 1'!$A$16</c:f>
              <c:strCache>
                <c:ptCount val="1"/>
                <c:pt idx="0">
                  <c:v>SANT</c:v>
                </c:pt>
              </c:strCache>
            </c:strRef>
          </c:tx>
          <c:spPr>
            <a:ln w="28575" cap="rnd">
              <a:solidFill>
                <a:srgbClr val="9D5F1B"/>
              </a:solidFill>
              <a:prstDash val="sysDash"/>
              <a:round/>
            </a:ln>
            <a:effectLst/>
          </c:spPr>
          <c:marker>
            <c:symbol val="circle"/>
            <c:size val="5"/>
            <c:spPr>
              <a:solidFill>
                <a:srgbClr val="9D5F1B"/>
              </a:solidFill>
              <a:ln w="9525">
                <a:solidFill>
                  <a:srgbClr val="9D5F1B"/>
                </a:solidFill>
              </a:ln>
              <a:effectLst/>
            </c:spPr>
          </c:marker>
          <c:dLbls>
            <c:dLbl>
              <c:idx val="10"/>
              <c:layout>
                <c:manualLayout>
                  <c:x val="-4.9080190848515342E-3"/>
                  <c:y val="9.3721334739398487E-3"/>
                </c:manualLayout>
              </c:layout>
              <c:tx>
                <c:rich>
                  <a:bodyPr/>
                  <a:lstStyle/>
                  <a:p>
                    <a:fld id="{A8C9F660-6CB7-462B-BB4C-EDF658B842F5}" type="VALUE">
                      <a:rPr lang="en-US" b="1">
                        <a:solidFill>
                          <a:srgbClr val="7A4D00"/>
                        </a:solidFill>
                      </a:rPr>
                      <a:pPr/>
                      <a:t>[VALOR]</a:t>
                    </a:fld>
                    <a:endParaRPr lang="es-MX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A-9D3A-48D0-8ACE-D834B091BC8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s-MX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'Fig 1'!$B$3:$L$3</c:f>
              <c:numCache>
                <c:formatCode>m/d/yyyy</c:formatCode>
                <c:ptCount val="11"/>
                <c:pt idx="0">
                  <c:v>40179</c:v>
                </c:pt>
                <c:pt idx="1">
                  <c:v>40544</c:v>
                </c:pt>
                <c:pt idx="2">
                  <c:v>40909</c:v>
                </c:pt>
                <c:pt idx="3">
                  <c:v>41275</c:v>
                </c:pt>
                <c:pt idx="4">
                  <c:v>41640</c:v>
                </c:pt>
                <c:pt idx="5">
                  <c:v>42005</c:v>
                </c:pt>
                <c:pt idx="6">
                  <c:v>42370</c:v>
                </c:pt>
                <c:pt idx="7">
                  <c:v>42736</c:v>
                </c:pt>
                <c:pt idx="8">
                  <c:v>43101</c:v>
                </c:pt>
                <c:pt idx="9">
                  <c:v>43466</c:v>
                </c:pt>
                <c:pt idx="10">
                  <c:v>43831</c:v>
                </c:pt>
              </c:numCache>
            </c:numRef>
          </c:cat>
          <c:val>
            <c:numRef>
              <c:f>'Fig 1'!$B$16:$L$16</c:f>
              <c:numCache>
                <c:formatCode>0.0</c:formatCode>
                <c:ptCount val="11"/>
                <c:pt idx="0">
                  <c:v>782.10924416733201</c:v>
                </c:pt>
                <c:pt idx="1">
                  <c:v>546.97363779863997</c:v>
                </c:pt>
                <c:pt idx="2">
                  <c:v>609.90503420333494</c:v>
                </c:pt>
                <c:pt idx="3">
                  <c:v>513.20664222855396</c:v>
                </c:pt>
                <c:pt idx="4">
                  <c:v>685.48610261097792</c:v>
                </c:pt>
                <c:pt idx="5">
                  <c:v>394.35893188537597</c:v>
                </c:pt>
                <c:pt idx="6">
                  <c:v>370.51642930167401</c:v>
                </c:pt>
                <c:pt idx="7">
                  <c:v>317.796929249654</c:v>
                </c:pt>
                <c:pt idx="8">
                  <c:v>265.19578727735495</c:v>
                </c:pt>
                <c:pt idx="9">
                  <c:v>338.73533734703403</c:v>
                </c:pt>
                <c:pt idx="10">
                  <c:v>216.70558222222201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B-9D3A-48D0-8ACE-D834B091BC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31372511"/>
        <c:axId val="1831373343"/>
      </c:lineChart>
      <c:dateAx>
        <c:axId val="1831372511"/>
        <c:scaling>
          <c:orientation val="minMax"/>
        </c:scaling>
        <c:delete val="0"/>
        <c:axPos val="b"/>
        <c:numFmt formatCode="yyyy" sourceLinked="0"/>
        <c:majorTickMark val="out"/>
        <c:minorTickMark val="none"/>
        <c:tickLblPos val="nextTo"/>
        <c:spPr>
          <a:noFill/>
          <a:ln w="9525" cap="flat" cmpd="sng" algn="ctr">
            <a:solidFill>
              <a:sysClr val="windowText" lastClr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ysClr val="windowText" lastClr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s-MX"/>
          </a:p>
        </c:txPr>
        <c:crossAx val="1831373343"/>
        <c:crosses val="autoZero"/>
        <c:auto val="1"/>
        <c:lblOffset val="100"/>
        <c:baseTimeUnit val="years"/>
        <c:majorUnit val="2"/>
        <c:majorTimeUnit val="years"/>
        <c:minorUnit val="2"/>
      </c:dateAx>
      <c:valAx>
        <c:axId val="1831373343"/>
        <c:scaling>
          <c:orientation val="minMax"/>
          <c:max val="1600"/>
          <c:min val="0"/>
        </c:scaling>
        <c:delete val="0"/>
        <c:axPos val="l"/>
        <c:numFmt formatCode="0" sourceLinked="0"/>
        <c:majorTickMark val="none"/>
        <c:minorTickMark val="none"/>
        <c:tickLblPos val="nextTo"/>
        <c:spPr>
          <a:noFill/>
          <a:ln>
            <a:solidFill>
              <a:schemeClr val="tx1">
                <a:lumMod val="95000"/>
                <a:lumOff val="5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ysClr val="windowText" lastClr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s-MX"/>
          </a:p>
        </c:txPr>
        <c:crossAx val="1831372511"/>
        <c:crosses val="autoZero"/>
        <c:crossBetween val="midCat"/>
        <c:majorUnit val="400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5.0000135144370871E-2"/>
          <c:y val="4.5586210799658654E-2"/>
          <c:w val="0.89999992277464524"/>
          <c:h val="8.941099252283830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ysClr val="windowText" lastClr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s-MX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1200">
          <a:solidFill>
            <a:sysClr val="windowText" lastClr="000000"/>
          </a:solidFill>
          <a:latin typeface="Times New Roman" panose="02020603050405020304" pitchFamily="18" charset="0"/>
          <a:cs typeface="Times New Roman" panose="02020603050405020304" pitchFamily="18" charset="0"/>
        </a:defRPr>
      </a:pPr>
      <a:endParaRPr lang="es-MX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3104EB-CB10-4434-96C1-6C7DACFC46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07873FC-6443-41E8-87CE-6F48773EAA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1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5531715-2677-4CA8-A303-219C98633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5C650-4451-4873-B65E-BC4D01892A04}" type="datetimeFigureOut">
              <a:rPr lang="es-MX" smtClean="0"/>
              <a:t>18/09/2022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29A9783-E6AD-4929-B01D-59D916625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C767EC1-DD59-4911-9202-8F4FC405D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E68C0-E3C8-4CCF-AAC3-DC503137B76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44827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D743A6-6403-4055-B8E8-79E275529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E401B03-3D7A-4492-8DF8-3A52B5053D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97D1190-63AD-41E6-8252-7C4EEFBD3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5C650-4451-4873-B65E-BC4D01892A04}" type="datetimeFigureOut">
              <a:rPr lang="es-MX" smtClean="0"/>
              <a:t>18/09/2022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297AA57-010F-47A9-8DD3-35F768F8A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FDDB75F-8B05-499F-9F91-D5AB80CB7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E68C0-E3C8-4CCF-AAC3-DC503137B76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88824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2DA2FA-B7EE-4C53-BAF0-FEEF920A5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954DD02-296A-4A3C-88D5-37F2C8F3CF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F90C330-8372-455A-BB28-94A0CDCAD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5C650-4451-4873-B65E-BC4D01892A04}" type="datetimeFigureOut">
              <a:rPr lang="es-MX" smtClean="0"/>
              <a:t>18/09/2022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226A0F-1296-459F-B5AD-4D254EE4C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945A534-BFB4-48DA-959B-63BD85583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E68C0-E3C8-4CCF-AAC3-DC503137B76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89299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93D8EC-6535-4DFC-898C-A997CE697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4E72460-FA6B-467B-B583-65CB909D2B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B1A5C0C-7B34-4E34-9DC6-0851AF1CFE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45A8256-A3A2-4087-846E-7863A08C4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5C650-4451-4873-B65E-BC4D01892A04}" type="datetimeFigureOut">
              <a:rPr lang="es-MX" smtClean="0"/>
              <a:t>18/09/2022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BEF37D8-443D-4F1F-8294-BAB106063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E300E9E-7386-41D0-8079-89115335B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E68C0-E3C8-4CCF-AAC3-DC503137B76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53841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22F2EB-250E-49B2-820D-EDDDEE791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A9E907F-04C0-4AE7-8052-114E374CA3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1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80DCEF3-631C-46E3-9037-B41B3A6513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CBF4DCA-B1B8-4BEE-8F5B-3421916FC2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1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4D54BE7-F60E-47D7-9FF9-34DDFECCFD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5D797BB-F6B5-4E59-8FA2-BDD2667C6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5C650-4451-4873-B65E-BC4D01892A04}" type="datetimeFigureOut">
              <a:rPr lang="es-MX" smtClean="0"/>
              <a:t>18/09/2022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E0BA0F4-D06A-4A44-BA0D-56C36C9C3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78294E6-9C44-4973-B8D9-5633BA039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E68C0-E3C8-4CCF-AAC3-DC503137B76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52786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19B937-D2FE-4DAC-A7D6-1437B7900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6C2F216-74DD-49BA-B3F6-67E0502DF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5C650-4451-4873-B65E-BC4D01892A04}" type="datetimeFigureOut">
              <a:rPr lang="es-MX" smtClean="0"/>
              <a:t>18/09/2022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C2D04E1-2329-4253-A94C-78F9ABBD7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A101391-FEC4-4DE8-9FC2-A4B9768C4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E68C0-E3C8-4CCF-AAC3-DC503137B76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05331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F8186F3-7CA2-4579-B827-7A0387600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5C650-4451-4873-B65E-BC4D01892A04}" type="datetimeFigureOut">
              <a:rPr lang="es-MX" smtClean="0"/>
              <a:t>18/09/2022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ECCC68D-3469-4392-9CB4-EBC666FF5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5C3CFFF-8750-4F63-9701-F903FF46A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E68C0-E3C8-4CCF-AAC3-DC503137B76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79487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620ED4-70A4-4B57-8C51-A0FD79AF4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ADFDAED-9618-48E0-853B-F7AE6DC2B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4913F09-8545-416B-85EF-B569E6AA49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1"/>
            </a:lvl2pPr>
            <a:lvl3pPr marL="914411" indent="0">
              <a:buNone/>
              <a:defRPr sz="1200"/>
            </a:lvl3pPr>
            <a:lvl4pPr marL="1371617" indent="0">
              <a:buNone/>
              <a:defRPr sz="1001"/>
            </a:lvl4pPr>
            <a:lvl5pPr marL="1828823" indent="0">
              <a:buNone/>
              <a:defRPr sz="1001"/>
            </a:lvl5pPr>
            <a:lvl6pPr marL="2286029" indent="0">
              <a:buNone/>
              <a:defRPr sz="1001"/>
            </a:lvl6pPr>
            <a:lvl7pPr marL="2743234" indent="0">
              <a:buNone/>
              <a:defRPr sz="1001"/>
            </a:lvl7pPr>
            <a:lvl8pPr marL="3200440" indent="0">
              <a:buNone/>
              <a:defRPr sz="1001"/>
            </a:lvl8pPr>
            <a:lvl9pPr marL="3657646" indent="0">
              <a:buNone/>
              <a:defRPr sz="100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B7A32FA-D6F0-4BFD-847F-31258ED65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5C650-4451-4873-B65E-BC4D01892A04}" type="datetimeFigureOut">
              <a:rPr lang="es-MX" smtClean="0"/>
              <a:t>18/09/2022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322A781-9B12-4796-8394-F9D74B322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2C93832-CFA0-4661-A10F-6C88A5905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E68C0-E3C8-4CCF-AAC3-DC503137B76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36428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135211-CB9E-42D4-8E57-1941782C1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6A1A45B-02C2-4022-83B7-0D95E4FC6A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AED270B-4116-42FD-9090-097905A5E9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1"/>
            </a:lvl2pPr>
            <a:lvl3pPr marL="914411" indent="0">
              <a:buNone/>
              <a:defRPr sz="1200"/>
            </a:lvl3pPr>
            <a:lvl4pPr marL="1371617" indent="0">
              <a:buNone/>
              <a:defRPr sz="1001"/>
            </a:lvl4pPr>
            <a:lvl5pPr marL="1828823" indent="0">
              <a:buNone/>
              <a:defRPr sz="1001"/>
            </a:lvl5pPr>
            <a:lvl6pPr marL="2286029" indent="0">
              <a:buNone/>
              <a:defRPr sz="1001"/>
            </a:lvl6pPr>
            <a:lvl7pPr marL="2743234" indent="0">
              <a:buNone/>
              <a:defRPr sz="1001"/>
            </a:lvl7pPr>
            <a:lvl8pPr marL="3200440" indent="0">
              <a:buNone/>
              <a:defRPr sz="1001"/>
            </a:lvl8pPr>
            <a:lvl9pPr marL="3657646" indent="0">
              <a:buNone/>
              <a:defRPr sz="100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392D266-B9B4-4694-AD0F-BB0DDA4E4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5C650-4451-4873-B65E-BC4D01892A04}" type="datetimeFigureOut">
              <a:rPr lang="es-MX" smtClean="0"/>
              <a:t>18/09/2022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DF42933-2BD5-46C6-A22C-7E1DBFB7B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AF5D170-BD84-43EF-ADF5-65CD88283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E68C0-E3C8-4CCF-AAC3-DC503137B76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29291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C60671-3417-4C2D-9511-C13F4E16F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4BE6200-5E88-4963-A1EC-8B5C7F1E4E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90583A6-0EB3-4508-9302-505133BEA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5C650-4451-4873-B65E-BC4D01892A04}" type="datetimeFigureOut">
              <a:rPr lang="es-MX" smtClean="0"/>
              <a:t>18/09/2022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BFA71DB-5E27-494C-88F7-F1E42D44A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C764DD-037F-4C29-BC25-AAE3DF3F1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E68C0-E3C8-4CCF-AAC3-DC503137B76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14599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0AFDF53-8A80-4B2D-8D1D-909C09EDF2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7406A3E-C341-413F-9E9D-F1036D7094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7BEDD3-0714-48EA-98C2-DEB335F37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5C650-4451-4873-B65E-BC4D01892A04}" type="datetimeFigureOut">
              <a:rPr lang="es-MX" smtClean="0"/>
              <a:t>18/09/2022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8A6C192-5209-4CBB-9D81-FEE1064C9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A56AA2B-9A44-4567-BCEB-B11CF8111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E68C0-E3C8-4CCF-AAC3-DC503137B76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24411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723D05C-9EE7-49D7-AB5B-86A70CAE0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FCAAA1D-DB0E-419D-A936-8FE1EFD18B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394240B-D0E2-4956-9161-47068EAA83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75C650-4451-4873-B65E-BC4D01892A04}" type="datetimeFigureOut">
              <a:rPr lang="es-MX" smtClean="0"/>
              <a:t>18/09/2022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F68C040-872B-4D32-8026-D16D193B3A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BEE856A-2249-4198-8989-A18E673C42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EE68C0-E3C8-4CCF-AAC3-DC503137B76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72554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4" indent="-228604" algn="l" defTabSz="914411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9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15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21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27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32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8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4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9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129F27-A3F4-4F9A-83C6-0DEB588B9D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b="1" dirty="0">
                <a:latin typeface="Times" panose="02020603050405020304" pitchFamily="18" charset="0"/>
                <a:cs typeface="Times" panose="02020603050405020304" pitchFamily="18" charset="0"/>
              </a:rPr>
              <a:t>Cambios estéticos fuera de código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D3E9A6E-34C5-410D-9E5C-72CEF290B5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sz="2800" b="1" dirty="0">
                <a:latin typeface="Times" panose="02020603050405020304" pitchFamily="18" charset="0"/>
                <a:cs typeface="Times" panose="02020603050405020304" pitchFamily="18" charset="0"/>
              </a:rPr>
              <a:t>Áreas Naturales Protegidas</a:t>
            </a:r>
          </a:p>
          <a:p>
            <a:r>
              <a:rPr lang="es-MX" dirty="0">
                <a:latin typeface="Times" panose="02020603050405020304" pitchFamily="18" charset="0"/>
                <a:cs typeface="Times" panose="02020603050405020304" pitchFamily="18" charset="0"/>
              </a:rPr>
              <a:t>Sebastián Ocampo Palacios</a:t>
            </a:r>
          </a:p>
        </p:txBody>
      </p:sp>
    </p:spTree>
    <p:extLst>
      <p:ext uri="{BB962C8B-B14F-4D97-AF65-F5344CB8AC3E}">
        <p14:creationId xmlns:p14="http://schemas.microsoft.com/office/powerpoint/2010/main" val="1486591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8B3C8-B02B-4BE1-B519-7C259C2F1D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639762"/>
          </a:xfrm>
        </p:spPr>
        <p:txBody>
          <a:bodyPr>
            <a:normAutofit fontScale="90000"/>
          </a:bodyPr>
          <a:lstStyle/>
          <a:p>
            <a:r>
              <a:rPr lang="es-MX" dirty="0">
                <a:latin typeface="Times" panose="02020603050405020304" pitchFamily="18" charset="0"/>
                <a:ea typeface="Roboto Condensed" pitchFamily="2" charset="0"/>
                <a:cs typeface="Times" panose="02020603050405020304" pitchFamily="18" charset="0"/>
              </a:rPr>
              <a:t>Aesthetical Off-Code Changes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D874F2-A80F-4ED5-8290-92289694AB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143125"/>
            <a:ext cx="9144000" cy="4430395"/>
          </a:xfrm>
        </p:spPr>
        <p:txBody>
          <a:bodyPr>
            <a:normAutofit lnSpcReduction="10000"/>
          </a:bodyPr>
          <a:lstStyle/>
          <a:p>
            <a:pPr marL="457200" indent="-457200">
              <a:buAutoNum type="arabicPeriod"/>
            </a:pPr>
            <a:r>
              <a:rPr lang="es-MX" dirty="0" err="1">
                <a:latin typeface="Times" panose="02020603050405020304" pitchFamily="18" charset="0"/>
                <a:ea typeface="Roboto Condensed" pitchFamily="2" charset="0"/>
                <a:cs typeface="Times" panose="02020603050405020304" pitchFamily="18" charset="0"/>
              </a:rPr>
              <a:t>You</a:t>
            </a:r>
            <a:r>
              <a:rPr lang="es-MX" dirty="0">
                <a:latin typeface="Times" panose="02020603050405020304" pitchFamily="18" charset="0"/>
                <a:ea typeface="Roboto Condensed" pitchFamily="2" charset="0"/>
                <a:cs typeface="Times" panose="02020603050405020304" pitchFamily="18" charset="0"/>
              </a:rPr>
              <a:t> </a:t>
            </a:r>
            <a:r>
              <a:rPr lang="es-MX" dirty="0" err="1">
                <a:latin typeface="Times" panose="02020603050405020304" pitchFamily="18" charset="0"/>
                <a:ea typeface="Roboto Condensed" pitchFamily="2" charset="0"/>
                <a:cs typeface="Times" panose="02020603050405020304" pitchFamily="18" charset="0"/>
              </a:rPr>
              <a:t>will</a:t>
            </a:r>
            <a:r>
              <a:rPr lang="es-MX" dirty="0">
                <a:latin typeface="Times" panose="02020603050405020304" pitchFamily="18" charset="0"/>
                <a:ea typeface="Roboto Condensed" pitchFamily="2" charset="0"/>
                <a:cs typeface="Times" panose="02020603050405020304" pitchFamily="18" charset="0"/>
              </a:rPr>
              <a:t> </a:t>
            </a:r>
            <a:r>
              <a:rPr lang="es-MX" dirty="0" err="1">
                <a:latin typeface="Times" panose="02020603050405020304" pitchFamily="18" charset="0"/>
                <a:ea typeface="Roboto Condensed" pitchFamily="2" charset="0"/>
                <a:cs typeface="Times" panose="02020603050405020304" pitchFamily="18" charset="0"/>
              </a:rPr>
              <a:t>need</a:t>
            </a:r>
            <a:r>
              <a:rPr lang="es-MX" dirty="0">
                <a:latin typeface="Times" panose="02020603050405020304" pitchFamily="18" charset="0"/>
                <a:ea typeface="Roboto Condensed" pitchFamily="2" charset="0"/>
                <a:cs typeface="Times" panose="02020603050405020304" pitchFamily="18" charset="0"/>
              </a:rPr>
              <a:t> “MEX-USA_IEN.png”, “SMT_N.png”, “SUT_N.png” </a:t>
            </a:r>
            <a:r>
              <a:rPr lang="es-MX" dirty="0" err="1">
                <a:latin typeface="Times" panose="02020603050405020304" pitchFamily="18" charset="0"/>
                <a:ea typeface="Roboto Condensed" pitchFamily="2" charset="0"/>
                <a:cs typeface="Times" panose="02020603050405020304" pitchFamily="18" charset="0"/>
              </a:rPr>
              <a:t>from</a:t>
            </a:r>
            <a:r>
              <a:rPr lang="es-MX" dirty="0">
                <a:latin typeface="Times" panose="02020603050405020304" pitchFamily="18" charset="0"/>
                <a:ea typeface="Roboto Condensed" pitchFamily="2" charset="0"/>
                <a:cs typeface="Times" panose="02020603050405020304" pitchFamily="18" charset="0"/>
              </a:rPr>
              <a:t> X folder on GitHub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s-MX" dirty="0">
                <a:latin typeface="Times" panose="02020603050405020304" pitchFamily="18" charset="0"/>
                <a:ea typeface="Roboto Condensed" pitchFamily="2" charset="0"/>
                <a:cs typeface="Times" panose="02020603050405020304" pitchFamily="18" charset="0"/>
              </a:rPr>
              <a:t>Know that the size of </a:t>
            </a:r>
            <a:r>
              <a:rPr lang="es-MX" dirty="0" err="1">
                <a:latin typeface="Times" panose="02020603050405020304" pitchFamily="18" charset="0"/>
                <a:ea typeface="Roboto Condensed" pitchFamily="2" charset="0"/>
                <a:cs typeface="Times" panose="02020603050405020304" pitchFamily="18" charset="0"/>
              </a:rPr>
              <a:t>the</a:t>
            </a:r>
            <a:r>
              <a:rPr lang="es-MX" dirty="0">
                <a:latin typeface="Times" panose="02020603050405020304" pitchFamily="18" charset="0"/>
                <a:ea typeface="Roboto Condensed" pitchFamily="2" charset="0"/>
                <a:cs typeface="Times" panose="02020603050405020304" pitchFamily="18" charset="0"/>
              </a:rPr>
              <a:t> central </a:t>
            </a:r>
            <a:r>
              <a:rPr lang="es-MX" dirty="0" err="1">
                <a:latin typeface="Times" panose="02020603050405020304" pitchFamily="18" charset="0"/>
                <a:ea typeface="Roboto Condensed" pitchFamily="2" charset="0"/>
                <a:cs typeface="Times" panose="02020603050405020304" pitchFamily="18" charset="0"/>
              </a:rPr>
              <a:t>visualization</a:t>
            </a:r>
            <a:r>
              <a:rPr lang="es-MX" dirty="0">
                <a:latin typeface="Times" panose="02020603050405020304" pitchFamily="18" charset="0"/>
                <a:ea typeface="Roboto Condensed" pitchFamily="2" charset="0"/>
                <a:cs typeface="Times" panose="02020603050405020304" pitchFamily="18" charset="0"/>
              </a:rPr>
              <a:t> (</a:t>
            </a:r>
            <a:r>
              <a:rPr lang="es-MX" sz="1800" i="1" dirty="0">
                <a:latin typeface="Times" panose="02020603050405020304" pitchFamily="18" charset="0"/>
                <a:ea typeface="Roboto Condensed" pitchFamily="2" charset="0"/>
                <a:cs typeface="Times" panose="02020603050405020304" pitchFamily="18" charset="0"/>
              </a:rPr>
              <a:t>MEX-USA_IEN.png</a:t>
            </a:r>
            <a:r>
              <a:rPr lang="es-MX" dirty="0">
                <a:latin typeface="Times" panose="02020603050405020304" pitchFamily="18" charset="0"/>
                <a:ea typeface="Roboto Condensed" pitchFamily="2" charset="0"/>
                <a:cs typeface="Times" panose="02020603050405020304" pitchFamily="18" charset="0"/>
              </a:rPr>
              <a:t>)  </a:t>
            </a:r>
            <a:r>
              <a:rPr lang="es-MX" dirty="0" err="1">
                <a:latin typeface="Times" panose="02020603050405020304" pitchFamily="18" charset="0"/>
                <a:ea typeface="Roboto Condensed" pitchFamily="2" charset="0"/>
                <a:cs typeface="Times" panose="02020603050405020304" pitchFamily="18" charset="0"/>
              </a:rPr>
              <a:t>is</a:t>
            </a:r>
            <a:r>
              <a:rPr lang="es-MX" dirty="0">
                <a:latin typeface="Times" panose="02020603050405020304" pitchFamily="18" charset="0"/>
                <a:ea typeface="Roboto Condensed" pitchFamily="2" charset="0"/>
                <a:cs typeface="Times" panose="02020603050405020304" pitchFamily="18" charset="0"/>
              </a:rPr>
              <a:t> 4.38 x 6 in. (</a:t>
            </a:r>
            <a:r>
              <a:rPr lang="es-MX" dirty="0" err="1">
                <a:latin typeface="Times" panose="02020603050405020304" pitchFamily="18" charset="0"/>
                <a:ea typeface="Roboto Condensed" pitchFamily="2" charset="0"/>
                <a:cs typeface="Times" panose="02020603050405020304" pitchFamily="18" charset="0"/>
              </a:rPr>
              <a:t>HxW</a:t>
            </a:r>
            <a:r>
              <a:rPr lang="es-MX" dirty="0">
                <a:latin typeface="Times" panose="02020603050405020304" pitchFamily="18" charset="0"/>
                <a:ea typeface="Roboto Condensed" pitchFamily="2" charset="0"/>
                <a:cs typeface="Times" panose="02020603050405020304" pitchFamily="18" charset="0"/>
              </a:rPr>
              <a:t>), </a:t>
            </a:r>
            <a:r>
              <a:rPr lang="es-MX" dirty="0" err="1">
                <a:latin typeface="Times" panose="02020603050405020304" pitchFamily="18" charset="0"/>
                <a:ea typeface="Roboto Condensed" pitchFamily="2" charset="0"/>
                <a:cs typeface="Times" panose="02020603050405020304" pitchFamily="18" charset="0"/>
              </a:rPr>
              <a:t>while</a:t>
            </a:r>
            <a:r>
              <a:rPr lang="es-MX" dirty="0">
                <a:latin typeface="Times" panose="02020603050405020304" pitchFamily="18" charset="0"/>
                <a:ea typeface="Roboto Condensed" pitchFamily="2" charset="0"/>
                <a:cs typeface="Times" panose="02020603050405020304" pitchFamily="18" charset="0"/>
              </a:rPr>
              <a:t> </a:t>
            </a:r>
            <a:r>
              <a:rPr lang="es-MX" dirty="0" err="1">
                <a:latin typeface="Times" panose="02020603050405020304" pitchFamily="18" charset="0"/>
                <a:ea typeface="Roboto Condensed" pitchFamily="2" charset="0"/>
                <a:cs typeface="Times" panose="02020603050405020304" pitchFamily="18" charset="0"/>
              </a:rPr>
              <a:t>the</a:t>
            </a:r>
            <a:r>
              <a:rPr lang="es-MX" dirty="0">
                <a:latin typeface="Times" panose="02020603050405020304" pitchFamily="18" charset="0"/>
                <a:ea typeface="Roboto Condensed" pitchFamily="2" charset="0"/>
                <a:cs typeface="Times" panose="02020603050405020304" pitchFamily="18" charset="0"/>
              </a:rPr>
              <a:t> </a:t>
            </a:r>
            <a:r>
              <a:rPr lang="es-MX" dirty="0" err="1">
                <a:latin typeface="Times" panose="02020603050405020304" pitchFamily="18" charset="0"/>
                <a:ea typeface="Roboto Condensed" pitchFamily="2" charset="0"/>
                <a:cs typeface="Times" panose="02020603050405020304" pitchFamily="18" charset="0"/>
              </a:rPr>
              <a:t>smaller</a:t>
            </a:r>
            <a:r>
              <a:rPr lang="es-MX" dirty="0">
                <a:latin typeface="Times" panose="02020603050405020304" pitchFamily="18" charset="0"/>
                <a:ea typeface="Roboto Condensed" pitchFamily="2" charset="0"/>
                <a:cs typeface="Times" panose="02020603050405020304" pitchFamily="18" charset="0"/>
              </a:rPr>
              <a:t> </a:t>
            </a:r>
            <a:r>
              <a:rPr lang="es-MX" dirty="0" err="1">
                <a:latin typeface="Times" panose="02020603050405020304" pitchFamily="18" charset="0"/>
                <a:ea typeface="Roboto Condensed" pitchFamily="2" charset="0"/>
                <a:cs typeface="Times" panose="02020603050405020304" pitchFamily="18" charset="0"/>
              </a:rPr>
              <a:t>graphs</a:t>
            </a:r>
            <a:r>
              <a:rPr lang="es-MX" dirty="0">
                <a:latin typeface="Times" panose="02020603050405020304" pitchFamily="18" charset="0"/>
                <a:ea typeface="Roboto Condensed" pitchFamily="2" charset="0"/>
                <a:cs typeface="Times" panose="02020603050405020304" pitchFamily="18" charset="0"/>
              </a:rPr>
              <a:t> are 2.12x6.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s-MX" dirty="0">
                <a:latin typeface="Times" panose="02020603050405020304" pitchFamily="18" charset="0"/>
                <a:ea typeface="Roboto Condensed" pitchFamily="2" charset="0"/>
                <a:cs typeface="Times" panose="02020603050405020304" pitchFamily="18" charset="0"/>
              </a:rPr>
              <a:t> Font </a:t>
            </a:r>
            <a:r>
              <a:rPr lang="es-MX" dirty="0" err="1">
                <a:latin typeface="Times" panose="02020603050405020304" pitchFamily="18" charset="0"/>
                <a:ea typeface="Roboto Condensed" pitchFamily="2" charset="0"/>
                <a:cs typeface="Times" panose="02020603050405020304" pitchFamily="18" charset="0"/>
              </a:rPr>
              <a:t>is</a:t>
            </a:r>
            <a:r>
              <a:rPr lang="es-MX" dirty="0">
                <a:latin typeface="Times" panose="02020603050405020304" pitchFamily="18" charset="0"/>
                <a:ea typeface="Roboto Condensed" pitchFamily="2" charset="0"/>
                <a:cs typeface="Times" panose="02020603050405020304" pitchFamily="18" charset="0"/>
              </a:rPr>
              <a:t> </a:t>
            </a:r>
            <a:r>
              <a:rPr lang="es-MX" i="1" dirty="0">
                <a:latin typeface="Times" panose="02020603050405020304" pitchFamily="18" charset="0"/>
                <a:ea typeface="Roboto Condensed" pitchFamily="2" charset="0"/>
                <a:cs typeface="Times" panose="02020603050405020304" pitchFamily="18" charset="0"/>
              </a:rPr>
              <a:t>Times New </a:t>
            </a:r>
            <a:r>
              <a:rPr lang="es-MX" i="1" dirty="0" err="1">
                <a:latin typeface="Times" panose="02020603050405020304" pitchFamily="18" charset="0"/>
                <a:ea typeface="Roboto Condensed" pitchFamily="2" charset="0"/>
                <a:cs typeface="Times" panose="02020603050405020304" pitchFamily="18" charset="0"/>
              </a:rPr>
              <a:t>Roman</a:t>
            </a:r>
            <a:r>
              <a:rPr lang="es-MX" i="1" dirty="0">
                <a:latin typeface="Times" panose="02020603050405020304" pitchFamily="18" charset="0"/>
                <a:ea typeface="Roboto Condensed" pitchFamily="2" charset="0"/>
                <a:cs typeface="Times" panose="02020603050405020304" pitchFamily="18" charset="0"/>
              </a:rPr>
              <a:t> </a:t>
            </a:r>
            <a:r>
              <a:rPr lang="es-MX" dirty="0">
                <a:latin typeface="Times" panose="02020603050405020304" pitchFamily="18" charset="0"/>
                <a:ea typeface="Roboto Condensed" pitchFamily="2" charset="0"/>
                <a:cs typeface="Times" panose="02020603050405020304" pitchFamily="18" charset="0"/>
              </a:rPr>
              <a:t>and </a:t>
            </a:r>
            <a:r>
              <a:rPr lang="es-MX" dirty="0" err="1">
                <a:latin typeface="Times" panose="02020603050405020304" pitchFamily="18" charset="0"/>
                <a:ea typeface="Roboto Condensed" pitchFamily="2" charset="0"/>
                <a:cs typeface="Times" panose="02020603050405020304" pitchFamily="18" charset="0"/>
              </a:rPr>
              <a:t>the</a:t>
            </a:r>
            <a:r>
              <a:rPr lang="es-MX" dirty="0">
                <a:latin typeface="Times" panose="02020603050405020304" pitchFamily="18" charset="0"/>
                <a:ea typeface="Roboto Condensed" pitchFamily="2" charset="0"/>
                <a:cs typeface="Times" panose="02020603050405020304" pitchFamily="18" charset="0"/>
              </a:rPr>
              <a:t> </a:t>
            </a:r>
            <a:r>
              <a:rPr lang="es-MX" dirty="0" err="1">
                <a:latin typeface="Times" panose="02020603050405020304" pitchFamily="18" charset="0"/>
                <a:ea typeface="Roboto Condensed" pitchFamily="2" charset="0"/>
                <a:cs typeface="Times" panose="02020603050405020304" pitchFamily="18" charset="0"/>
              </a:rPr>
              <a:t>colors</a:t>
            </a:r>
            <a:r>
              <a:rPr lang="es-MX" dirty="0">
                <a:latin typeface="Times" panose="02020603050405020304" pitchFamily="18" charset="0"/>
                <a:ea typeface="Roboto Condensed" pitchFamily="2" charset="0"/>
                <a:cs typeface="Times" panose="02020603050405020304" pitchFamily="18" charset="0"/>
              </a:rPr>
              <a:t> are</a:t>
            </a:r>
          </a:p>
          <a:p>
            <a:pPr marL="914400" lvl="1" indent="-457200">
              <a:buAutoNum type="arabicPeriod"/>
            </a:pPr>
            <a:r>
              <a:rPr lang="es-MX" dirty="0">
                <a:latin typeface="Times" panose="02020603050405020304" pitchFamily="18" charset="0"/>
                <a:ea typeface="Roboto Condensed" pitchFamily="2" charset="0"/>
                <a:cs typeface="Times" panose="02020603050405020304" pitchFamily="18" charset="0"/>
              </a:rPr>
              <a:t> </a:t>
            </a:r>
            <a:r>
              <a:rPr lang="es-MX" dirty="0" err="1">
                <a:solidFill>
                  <a:srgbClr val="C64756"/>
                </a:solidFill>
                <a:latin typeface="Times" panose="02020603050405020304" pitchFamily="18" charset="0"/>
                <a:ea typeface="Roboto Condensed" pitchFamily="2" charset="0"/>
                <a:cs typeface="Times" panose="02020603050405020304" pitchFamily="18" charset="0"/>
              </a:rPr>
              <a:t>Exports</a:t>
            </a:r>
            <a:r>
              <a:rPr lang="es-MX" dirty="0">
                <a:solidFill>
                  <a:srgbClr val="C64756"/>
                </a:solidFill>
                <a:latin typeface="Times" panose="02020603050405020304" pitchFamily="18" charset="0"/>
                <a:ea typeface="Roboto Condensed" pitchFamily="2" charset="0"/>
                <a:cs typeface="Times" panose="02020603050405020304" pitchFamily="18" charset="0"/>
              </a:rPr>
              <a:t> </a:t>
            </a:r>
            <a:r>
              <a:rPr lang="es-MX" dirty="0">
                <a:latin typeface="Times" panose="02020603050405020304" pitchFamily="18" charset="0"/>
                <a:ea typeface="Roboto Condensed" pitchFamily="2" charset="0"/>
                <a:cs typeface="Times" panose="02020603050405020304" pitchFamily="18" charset="0"/>
              </a:rPr>
              <a:t>(HEX: #c64756 )</a:t>
            </a:r>
          </a:p>
          <a:p>
            <a:pPr marL="914400" lvl="1" indent="-457200">
              <a:buAutoNum type="arabicPeriod"/>
            </a:pPr>
            <a:r>
              <a:rPr lang="es-MX" dirty="0">
                <a:latin typeface="Times" panose="02020603050405020304" pitchFamily="18" charset="0"/>
                <a:ea typeface="Roboto Condensed" pitchFamily="2" charset="0"/>
                <a:cs typeface="Times" panose="02020603050405020304" pitchFamily="18" charset="0"/>
              </a:rPr>
              <a:t> </a:t>
            </a:r>
            <a:r>
              <a:rPr lang="es-MX" dirty="0" err="1">
                <a:solidFill>
                  <a:srgbClr val="144A44"/>
                </a:solidFill>
                <a:latin typeface="Times" panose="02020603050405020304" pitchFamily="18" charset="0"/>
                <a:ea typeface="Roboto Condensed" pitchFamily="2" charset="0"/>
                <a:cs typeface="Times" panose="02020603050405020304" pitchFamily="18" charset="0"/>
              </a:rPr>
              <a:t>Imports</a:t>
            </a:r>
            <a:r>
              <a:rPr lang="es-MX" dirty="0">
                <a:solidFill>
                  <a:srgbClr val="144A44"/>
                </a:solidFill>
                <a:latin typeface="Times" panose="02020603050405020304" pitchFamily="18" charset="0"/>
                <a:ea typeface="Roboto Condensed" pitchFamily="2" charset="0"/>
                <a:cs typeface="Times" panose="02020603050405020304" pitchFamily="18" charset="0"/>
              </a:rPr>
              <a:t> </a:t>
            </a:r>
            <a:r>
              <a:rPr lang="es-MX" dirty="0">
                <a:latin typeface="Times" panose="02020603050405020304" pitchFamily="18" charset="0"/>
                <a:ea typeface="Roboto Condensed" pitchFamily="2" charset="0"/>
                <a:cs typeface="Times" panose="02020603050405020304" pitchFamily="18" charset="0"/>
              </a:rPr>
              <a:t>(HEX: #184d47)</a:t>
            </a:r>
          </a:p>
          <a:p>
            <a:pPr marL="457200" indent="-457200">
              <a:buAutoNum type="arabicPeriod"/>
            </a:pPr>
            <a:r>
              <a:rPr lang="es-MX" dirty="0">
                <a:latin typeface="Times" panose="02020603050405020304" pitchFamily="18" charset="0"/>
                <a:ea typeface="Roboto Condensed" pitchFamily="2" charset="0"/>
                <a:cs typeface="Times" panose="02020603050405020304" pitchFamily="18" charset="0"/>
              </a:rPr>
              <a:t>Add </a:t>
            </a:r>
            <a:r>
              <a:rPr lang="es-MX" dirty="0" err="1">
                <a:latin typeface="Times" panose="02020603050405020304" pitchFamily="18" charset="0"/>
                <a:ea typeface="Roboto Condensed" pitchFamily="2" charset="0"/>
                <a:cs typeface="Times" panose="02020603050405020304" pitchFamily="18" charset="0"/>
              </a:rPr>
              <a:t>main</a:t>
            </a:r>
            <a:r>
              <a:rPr lang="es-MX" dirty="0">
                <a:latin typeface="Times" panose="02020603050405020304" pitchFamily="18" charset="0"/>
                <a:ea typeface="Roboto Condensed" pitchFamily="2" charset="0"/>
                <a:cs typeface="Times" panose="02020603050405020304" pitchFamily="18" charset="0"/>
              </a:rPr>
              <a:t> </a:t>
            </a:r>
            <a:r>
              <a:rPr lang="es-MX" dirty="0" err="1">
                <a:latin typeface="Times" panose="02020603050405020304" pitchFamily="18" charset="0"/>
                <a:ea typeface="Roboto Condensed" pitchFamily="2" charset="0"/>
                <a:cs typeface="Times" panose="02020603050405020304" pitchFamily="18" charset="0"/>
              </a:rPr>
              <a:t>title</a:t>
            </a:r>
            <a:r>
              <a:rPr lang="es-MX" dirty="0">
                <a:latin typeface="Times" panose="02020603050405020304" pitchFamily="18" charset="0"/>
                <a:ea typeface="Roboto Condensed" pitchFamily="2" charset="0"/>
                <a:cs typeface="Times" panose="02020603050405020304" pitchFamily="18" charset="0"/>
              </a:rPr>
              <a:t>, caption and legend. </a:t>
            </a:r>
          </a:p>
          <a:p>
            <a:pPr marL="457200" indent="-457200">
              <a:buAutoNum type="arabicPeriod"/>
            </a:pPr>
            <a:r>
              <a:rPr lang="es-MX" dirty="0">
                <a:latin typeface="Times" panose="02020603050405020304" pitchFamily="18" charset="0"/>
                <a:ea typeface="Roboto Condensed" pitchFamily="2" charset="0"/>
                <a:cs typeface="Times" panose="02020603050405020304" pitchFamily="18" charset="0"/>
              </a:rPr>
              <a:t>Group and copy+paste as picture.</a:t>
            </a:r>
          </a:p>
          <a:p>
            <a:pPr marL="457200" indent="-457200">
              <a:buAutoNum type="arabicPeriod"/>
            </a:pPr>
            <a:r>
              <a:rPr lang="es-MX" dirty="0">
                <a:latin typeface="Times" panose="02020603050405020304" pitchFamily="18" charset="0"/>
                <a:ea typeface="Roboto Condensed" pitchFamily="2" charset="0"/>
                <a:cs typeface="Times" panose="02020603050405020304" pitchFamily="18" charset="0"/>
              </a:rPr>
              <a:t>Right click, select </a:t>
            </a:r>
            <a:r>
              <a:rPr lang="es-MX" i="1" dirty="0">
                <a:latin typeface="Times" panose="02020603050405020304" pitchFamily="18" charset="0"/>
                <a:ea typeface="Roboto Condensed" pitchFamily="2" charset="0"/>
                <a:cs typeface="Times" panose="02020603050405020304" pitchFamily="18" charset="0"/>
              </a:rPr>
              <a:t>Format Picture</a:t>
            </a:r>
            <a:r>
              <a:rPr lang="es-MX" dirty="0">
                <a:latin typeface="Times" panose="02020603050405020304" pitchFamily="18" charset="0"/>
                <a:ea typeface="Roboto Condensed" pitchFamily="2" charset="0"/>
                <a:cs typeface="Times" panose="02020603050405020304" pitchFamily="18" charset="0"/>
              </a:rPr>
              <a:t>, </a:t>
            </a:r>
            <a:r>
              <a:rPr lang="es-MX" i="1" dirty="0">
                <a:latin typeface="Times" panose="02020603050405020304" pitchFamily="18" charset="0"/>
                <a:ea typeface="Roboto Condensed" pitchFamily="2" charset="0"/>
                <a:cs typeface="Times" panose="02020603050405020304" pitchFamily="18" charset="0"/>
              </a:rPr>
              <a:t>Fill</a:t>
            </a:r>
            <a:r>
              <a:rPr lang="es-MX" dirty="0">
                <a:latin typeface="Times" panose="02020603050405020304" pitchFamily="18" charset="0"/>
                <a:ea typeface="Roboto Condensed" pitchFamily="2" charset="0"/>
                <a:cs typeface="Times" panose="02020603050405020304" pitchFamily="18" charset="0"/>
              </a:rPr>
              <a:t> and choose </a:t>
            </a:r>
            <a:r>
              <a:rPr lang="es-MX" i="1" dirty="0">
                <a:latin typeface="Times" panose="02020603050405020304" pitchFamily="18" charset="0"/>
                <a:ea typeface="Roboto Condensed" pitchFamily="2" charset="0"/>
                <a:cs typeface="Times" panose="02020603050405020304" pitchFamily="18" charset="0"/>
              </a:rPr>
              <a:t>Solid Fill (“White)</a:t>
            </a:r>
            <a:r>
              <a:rPr lang="es-MX" dirty="0">
                <a:latin typeface="Times" panose="02020603050405020304" pitchFamily="18" charset="0"/>
                <a:ea typeface="Roboto Condensed" pitchFamily="2" charset="0"/>
                <a:cs typeface="Times" panose="02020603050405020304" pitchFamily="18" charset="0"/>
              </a:rPr>
              <a:t>.</a:t>
            </a:r>
          </a:p>
          <a:p>
            <a:pPr marL="457200" indent="-457200">
              <a:buAutoNum type="arabicPeriod"/>
            </a:pPr>
            <a:r>
              <a:rPr lang="es-MX" dirty="0">
                <a:latin typeface="Times" panose="02020603050405020304" pitchFamily="18" charset="0"/>
                <a:ea typeface="Roboto Condensed" pitchFamily="2" charset="0"/>
                <a:cs typeface="Times" panose="02020603050405020304" pitchFamily="18" charset="0"/>
              </a:rPr>
              <a:t>Save as Picture.</a:t>
            </a:r>
          </a:p>
        </p:txBody>
      </p:sp>
    </p:spTree>
    <p:extLst>
      <p:ext uri="{BB962C8B-B14F-4D97-AF65-F5344CB8AC3E}">
        <p14:creationId xmlns:p14="http://schemas.microsoft.com/office/powerpoint/2010/main" val="1665731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F00323-971A-6479-BC18-62726A168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9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58E63E-2E0F-3A7F-C767-7808DDC8A6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B01B49D-BA7E-8485-4FFB-C0B01F760F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6B395890-FECA-AFD3-3CD1-C9CDDCDE0F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715" y="6388076"/>
            <a:ext cx="11176574" cy="939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52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D64B580D-A795-4D65-9F48-8DB93058CEB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33720848"/>
              </p:ext>
            </p:extLst>
          </p:nvPr>
        </p:nvGraphicFramePr>
        <p:xfrm>
          <a:off x="889402" y="1358742"/>
          <a:ext cx="5347474" cy="27114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3F1B6D21-3464-3A1A-205C-0B7C9967C53E}"/>
              </a:ext>
            </a:extLst>
          </p:cNvPr>
          <p:cNvSpPr txBox="1"/>
          <p:nvPr/>
        </p:nvSpPr>
        <p:spPr>
          <a:xfrm>
            <a:off x="1249939" y="1119831"/>
            <a:ext cx="49869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Fig. 1.1 Presupuesto por categorías (en miles de pesos)</a:t>
            </a:r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4ADFEE03-CE42-EB32-CFD2-8F41EEDBC0F0}"/>
              </a:ext>
            </a:extLst>
          </p:cNvPr>
          <p:cNvGrpSpPr/>
          <p:nvPr/>
        </p:nvGrpSpPr>
        <p:grpSpPr>
          <a:xfrm>
            <a:off x="6155140" y="3442537"/>
            <a:ext cx="5352752" cy="2910483"/>
            <a:chOff x="6155140" y="3442537"/>
            <a:chExt cx="5352752" cy="2910483"/>
          </a:xfrm>
        </p:grpSpPr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6F10D027-92CB-988B-5AD3-F011865CCD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55140" y="3640065"/>
              <a:ext cx="5352752" cy="2712955"/>
            </a:xfrm>
            <a:prstGeom prst="rect">
              <a:avLst/>
            </a:prstGeom>
          </p:spPr>
        </p:pic>
        <p:sp>
          <p:nvSpPr>
            <p:cNvPr id="15" name="CuadroTexto 14">
              <a:extLst>
                <a:ext uri="{FF2B5EF4-FFF2-40B4-BE49-F238E27FC236}">
                  <a16:creationId xmlns:a16="http://schemas.microsoft.com/office/drawing/2014/main" id="{7C3F6802-C100-457A-686B-C86A77F2F690}"/>
                </a:ext>
              </a:extLst>
            </p:cNvPr>
            <p:cNvSpPr txBox="1"/>
            <p:nvPr/>
          </p:nvSpPr>
          <p:spPr>
            <a:xfrm>
              <a:off x="6515677" y="3442537"/>
              <a:ext cx="49869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4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Fig. 1.1 - Presupuesto por categorías (en miles de pesos)</a:t>
              </a:r>
            </a:p>
          </p:txBody>
        </p:sp>
      </p:grpSp>
      <p:sp>
        <p:nvSpPr>
          <p:cNvPr id="8" name="Título 1">
            <a:extLst>
              <a:ext uri="{FF2B5EF4-FFF2-40B4-BE49-F238E27FC236}">
                <a16:creationId xmlns:a16="http://schemas.microsoft.com/office/drawing/2014/main" id="{D8FFC9B1-046B-A256-10B9-0F3B6A1E5649}"/>
              </a:ext>
            </a:extLst>
          </p:cNvPr>
          <p:cNvSpPr txBox="1">
            <a:spLocks/>
          </p:cNvSpPr>
          <p:nvPr/>
        </p:nvSpPr>
        <p:spPr>
          <a:xfrm>
            <a:off x="135775" y="66502"/>
            <a:ext cx="1709651" cy="57557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10000"/>
          </a:bodyPr>
          <a:lstStyle>
            <a:lvl1pPr algn="l" defTabSz="91441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b="1" dirty="0">
                <a:latin typeface="Times" panose="02020603050405020304" pitchFamily="18" charset="0"/>
                <a:cs typeface="Times" panose="02020603050405020304" pitchFamily="18" charset="0"/>
              </a:rPr>
              <a:t>Figura 1.1</a:t>
            </a:r>
          </a:p>
        </p:txBody>
      </p:sp>
    </p:spTree>
    <p:extLst>
      <p:ext uri="{BB962C8B-B14F-4D97-AF65-F5344CB8AC3E}">
        <p14:creationId xmlns:p14="http://schemas.microsoft.com/office/powerpoint/2010/main" val="2602775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Gráfico 5">
            <a:extLst>
              <a:ext uri="{FF2B5EF4-FFF2-40B4-BE49-F238E27FC236}">
                <a16:creationId xmlns:a16="http://schemas.microsoft.com/office/drawing/2014/main" id="{A0FAE7F6-3862-4B1F-AC2F-89CA34C76F5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01640299"/>
              </p:ext>
            </p:extLst>
          </p:nvPr>
        </p:nvGraphicFramePr>
        <p:xfrm>
          <a:off x="6241996" y="3931797"/>
          <a:ext cx="5178425" cy="27114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CuadroTexto 8">
            <a:extLst>
              <a:ext uri="{FF2B5EF4-FFF2-40B4-BE49-F238E27FC236}">
                <a16:creationId xmlns:a16="http://schemas.microsoft.com/office/drawing/2014/main" id="{655E373C-06B6-CB94-0967-443879F6137E}"/>
              </a:ext>
            </a:extLst>
          </p:cNvPr>
          <p:cNvSpPr txBox="1"/>
          <p:nvPr/>
        </p:nvSpPr>
        <p:spPr>
          <a:xfrm>
            <a:off x="6642850" y="3685017"/>
            <a:ext cx="49869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Fig. 1.2 - Presupuesto destinado (pesos por km</a:t>
            </a:r>
            <a:r>
              <a:rPr lang="es-MX" sz="1400" b="1" baseline="30000" dirty="0">
                <a:solidFill>
                  <a:schemeClr val="tx1">
                    <a:lumMod val="95000"/>
                    <a:lumOff val="5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2</a:t>
            </a:r>
            <a:r>
              <a:rPr lang="es-MX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)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BE04138C-301C-5C15-8E18-2CD2DD0A8F8B}"/>
              </a:ext>
            </a:extLst>
          </p:cNvPr>
          <p:cNvGrpSpPr/>
          <p:nvPr/>
        </p:nvGrpSpPr>
        <p:grpSpPr>
          <a:xfrm>
            <a:off x="969469" y="1504424"/>
            <a:ext cx="5373702" cy="2843557"/>
            <a:chOff x="969469" y="1480761"/>
            <a:chExt cx="5373702" cy="2843557"/>
          </a:xfrm>
        </p:grpSpPr>
        <p:pic>
          <p:nvPicPr>
            <p:cNvPr id="2" name="Imagen 1">
              <a:extLst>
                <a:ext uri="{FF2B5EF4-FFF2-40B4-BE49-F238E27FC236}">
                  <a16:creationId xmlns:a16="http://schemas.microsoft.com/office/drawing/2014/main" id="{2C71209B-B843-FF0D-2038-6FD0A4FD368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69469" y="1611598"/>
              <a:ext cx="5181600" cy="2712720"/>
            </a:xfrm>
            <a:prstGeom prst="rect">
              <a:avLst/>
            </a:prstGeom>
          </p:spPr>
        </p:pic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A1A779DF-D736-90BF-82BB-B05407EA764F}"/>
                </a:ext>
              </a:extLst>
            </p:cNvPr>
            <p:cNvSpPr txBox="1"/>
            <p:nvPr/>
          </p:nvSpPr>
          <p:spPr>
            <a:xfrm>
              <a:off x="1356234" y="1480761"/>
              <a:ext cx="49869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4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Fig. 1.2 -  Presupuesto destinado (pesos por km</a:t>
              </a:r>
              <a:r>
                <a:rPr lang="es-MX" sz="1400" b="1" baseline="30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2</a:t>
              </a:r>
              <a:r>
                <a:rPr lang="es-MX" sz="14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)</a:t>
              </a:r>
            </a:p>
          </p:txBody>
        </p:sp>
      </p:grpSp>
      <p:sp>
        <p:nvSpPr>
          <p:cNvPr id="7" name="Título 1">
            <a:extLst>
              <a:ext uri="{FF2B5EF4-FFF2-40B4-BE49-F238E27FC236}">
                <a16:creationId xmlns:a16="http://schemas.microsoft.com/office/drawing/2014/main" id="{72C215F1-1BD9-E42D-C25F-52CF50471580}"/>
              </a:ext>
            </a:extLst>
          </p:cNvPr>
          <p:cNvSpPr txBox="1">
            <a:spLocks/>
          </p:cNvSpPr>
          <p:nvPr/>
        </p:nvSpPr>
        <p:spPr>
          <a:xfrm>
            <a:off x="135775" y="66502"/>
            <a:ext cx="1709651" cy="57557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10000"/>
          </a:bodyPr>
          <a:lstStyle>
            <a:lvl1pPr algn="l" defTabSz="91441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b="1" dirty="0">
                <a:latin typeface="Times" panose="02020603050405020304" pitchFamily="18" charset="0"/>
                <a:cs typeface="Times" panose="02020603050405020304" pitchFamily="18" charset="0"/>
              </a:rPr>
              <a:t>Figura 1.2</a:t>
            </a:r>
          </a:p>
        </p:txBody>
      </p:sp>
    </p:spTree>
    <p:extLst>
      <p:ext uri="{BB962C8B-B14F-4D97-AF65-F5344CB8AC3E}">
        <p14:creationId xmlns:p14="http://schemas.microsoft.com/office/powerpoint/2010/main" val="38929073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id="{792E62AC-F005-D87B-A258-582C2BF1EC7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47005716"/>
              </p:ext>
            </p:extLst>
          </p:nvPr>
        </p:nvGraphicFramePr>
        <p:xfrm>
          <a:off x="2707342" y="1695308"/>
          <a:ext cx="6536551" cy="31528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68F6DED3-0602-944B-556F-BA8C2B22EB74}"/>
              </a:ext>
            </a:extLst>
          </p:cNvPr>
          <p:cNvSpPr txBox="1"/>
          <p:nvPr/>
        </p:nvSpPr>
        <p:spPr>
          <a:xfrm>
            <a:off x="3054407" y="1356754"/>
            <a:ext cx="67196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Presupuesto destinado (pesos por km</a:t>
            </a:r>
            <a:r>
              <a:rPr lang="es-MX" sz="1600" b="1" baseline="30000" dirty="0">
                <a:solidFill>
                  <a:schemeClr val="tx1">
                    <a:lumMod val="95000"/>
                    <a:lumOff val="5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2</a:t>
            </a:r>
            <a:r>
              <a:rPr lang="es-MX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)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DEABCAB-5E2B-B234-E842-F601F6114B14}"/>
              </a:ext>
            </a:extLst>
          </p:cNvPr>
          <p:cNvSpPr txBox="1"/>
          <p:nvPr/>
        </p:nvSpPr>
        <p:spPr>
          <a:xfrm>
            <a:off x="2707342" y="4848191"/>
            <a:ext cx="6536551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Notas: </a:t>
            </a:r>
            <a:r>
              <a:rPr lang="es-MX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 obtener los recursos por superficie marina y terrestre asumí que serían distribuidos según la proporción sobre la superficie total. En pesos reales del 2020.</a:t>
            </a:r>
          </a:p>
          <a:p>
            <a:r>
              <a:rPr lang="es-MX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Fuente: </a:t>
            </a:r>
            <a:r>
              <a:rPr lang="es-MX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Elaboración propia (@sebasdepapel) con base en la solicitud de transparencia</a:t>
            </a:r>
            <a:r>
              <a:rPr lang="es-MX" sz="1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330008322000126. Comisión Nacional de Áreas Naturales Protegidas. “Solicitud de Información Pública 330008322000126”. </a:t>
            </a:r>
            <a:r>
              <a:rPr lang="es-MX" sz="140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Plataforma Nacional de Transparencia</a:t>
            </a:r>
            <a:r>
              <a:rPr lang="es-MX" sz="1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marzo de 2022. https://buscador.plataformadetransparencia.org.mx/web/guest/buscadornacional?param=ROEOTGEJZ5W3S?76CDO3UHN3AGS?EMC3PYYMKWMKQ.</a:t>
            </a:r>
          </a:p>
          <a:p>
            <a:r>
              <a:rPr lang="es-MX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9AD26ED0-C658-5F4F-2498-8E0E42273F9B}"/>
              </a:ext>
            </a:extLst>
          </p:cNvPr>
          <p:cNvSpPr txBox="1">
            <a:spLocks/>
          </p:cNvSpPr>
          <p:nvPr/>
        </p:nvSpPr>
        <p:spPr>
          <a:xfrm>
            <a:off x="135775" y="66502"/>
            <a:ext cx="2424545" cy="57557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l" defTabSz="91441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b="1" dirty="0">
                <a:latin typeface="Times" panose="02020603050405020304" pitchFamily="18" charset="0"/>
                <a:cs typeface="Times" panose="02020603050405020304" pitchFamily="18" charset="0"/>
              </a:rPr>
              <a:t>Figura 2 </a:t>
            </a:r>
          </a:p>
          <a:p>
            <a:r>
              <a:rPr lang="es-MX" b="1" dirty="0">
                <a:latin typeface="Times" panose="02020603050405020304" pitchFamily="18" charset="0"/>
                <a:cs typeface="Times" panose="02020603050405020304" pitchFamily="18" charset="0"/>
              </a:rPr>
              <a:t>(destinada a redes)</a:t>
            </a:r>
          </a:p>
        </p:txBody>
      </p:sp>
    </p:spTree>
    <p:extLst>
      <p:ext uri="{BB962C8B-B14F-4D97-AF65-F5344CB8AC3E}">
        <p14:creationId xmlns:p14="http://schemas.microsoft.com/office/powerpoint/2010/main" val="22376105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9DA6DE0-BC87-FEA6-0BCF-36A50ABF20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714375"/>
            <a:ext cx="9448800" cy="542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8611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76A4BDB7-2147-625C-A613-094D588D58EF}"/>
              </a:ext>
            </a:extLst>
          </p:cNvPr>
          <p:cNvSpPr/>
          <p:nvPr/>
        </p:nvSpPr>
        <p:spPr>
          <a:xfrm>
            <a:off x="563525" y="409420"/>
            <a:ext cx="6909154" cy="6039160"/>
          </a:xfrm>
          <a:prstGeom prst="rect">
            <a:avLst/>
          </a:prstGeom>
          <a:solidFill>
            <a:schemeClr val="bg2"/>
          </a:solidFill>
          <a:ln>
            <a:solidFill>
              <a:srgbClr val="004D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904B2BB-84E8-C885-7BB3-DDD63C47AE1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451"/>
          <a:stretch/>
        </p:blipFill>
        <p:spPr>
          <a:xfrm>
            <a:off x="563525" y="409420"/>
            <a:ext cx="2594345" cy="603916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1CF1821F-D143-47C1-9D98-4445FF0CD3C9}"/>
              </a:ext>
            </a:extLst>
          </p:cNvPr>
          <p:cNvSpPr txBox="1"/>
          <p:nvPr/>
        </p:nvSpPr>
        <p:spPr>
          <a:xfrm>
            <a:off x="7735835" y="1059651"/>
            <a:ext cx="4210492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latin typeface="Public Sans" panose="00000500000000000000" pitchFamily="2" charset="0"/>
              </a:rPr>
              <a:t>Plantilla para mapas</a:t>
            </a:r>
          </a:p>
          <a:p>
            <a:r>
              <a:rPr lang="es-MX" dirty="0">
                <a:latin typeface="Public Sans" panose="00000500000000000000" pitchFamily="2" charset="0"/>
              </a:rPr>
              <a:t>Para poder replicar la estructura del mapa debemos considerar los siguientes criterios:</a:t>
            </a:r>
          </a:p>
          <a:p>
            <a:pPr lvl="1"/>
            <a:r>
              <a:rPr lang="es-MX" dirty="0">
                <a:latin typeface="Public Sans" panose="00000500000000000000" pitchFamily="2" charset="0"/>
              </a:rPr>
              <a:t>   - Recuadro de 16.78 x 19.19 cm</a:t>
            </a:r>
          </a:p>
          <a:p>
            <a:pPr lvl="1"/>
            <a:r>
              <a:rPr lang="es-MX" dirty="0">
                <a:latin typeface="Public Sans" panose="00000500000000000000" pitchFamily="2" charset="0"/>
              </a:rPr>
              <a:t>    (alto y ancho)</a:t>
            </a:r>
          </a:p>
          <a:p>
            <a:pPr lvl="1"/>
            <a:r>
              <a:rPr lang="es-MX" dirty="0">
                <a:latin typeface="Public Sans" panose="00000500000000000000" pitchFamily="2" charset="0"/>
              </a:rPr>
              <a:t>  - Fuente de títulos en tamaño 20 pts. </a:t>
            </a:r>
          </a:p>
          <a:p>
            <a:pPr lvl="1"/>
            <a:r>
              <a:rPr lang="es-MX" dirty="0">
                <a:latin typeface="Public Sans" panose="00000500000000000000" pitchFamily="2" charset="0"/>
              </a:rPr>
              <a:t>  - Fuente de subtítulos en 18  pts.</a:t>
            </a:r>
          </a:p>
          <a:p>
            <a:pPr lvl="1"/>
            <a:r>
              <a:rPr lang="es-MX" dirty="0">
                <a:latin typeface="Public Sans" panose="00000500000000000000" pitchFamily="2" charset="0"/>
              </a:rPr>
              <a:t>  - Fuente de referencias en 16 pts.</a:t>
            </a:r>
          </a:p>
          <a:p>
            <a:pPr lvl="1"/>
            <a:r>
              <a:rPr lang="es-MX" dirty="0">
                <a:latin typeface="Public Sans" panose="00000500000000000000" pitchFamily="2" charset="0"/>
              </a:rPr>
              <a:t>  - Fuente de leyendas en 40 </a:t>
            </a:r>
            <a:r>
              <a:rPr lang="es-MX" dirty="0" err="1">
                <a:latin typeface="Public Sans" panose="00000500000000000000" pitchFamily="2" charset="0"/>
              </a:rPr>
              <a:t>pts</a:t>
            </a:r>
            <a:r>
              <a:rPr lang="es-MX" dirty="0">
                <a:latin typeface="Public Sans" panose="00000500000000000000" pitchFamily="2" charset="0"/>
              </a:rPr>
              <a:t> para la versión “insumo” de este documento.</a:t>
            </a:r>
          </a:p>
          <a:p>
            <a:pPr lvl="1"/>
            <a:endParaRPr lang="es-MX" dirty="0">
              <a:latin typeface="Public Sans" panose="00000500000000000000" pitchFamily="2" charset="0"/>
            </a:endParaRPr>
          </a:p>
          <a:p>
            <a:pPr lvl="1"/>
            <a:r>
              <a:rPr lang="es-MX" dirty="0">
                <a:latin typeface="Public Sans" panose="00000500000000000000" pitchFamily="2" charset="0"/>
              </a:rPr>
              <a:t>Agrupamos al acomodar como plantilla y guardamos como imagen (el conjunto). A veces es necesario copiar y pegar como imagen. </a:t>
            </a:r>
          </a:p>
          <a:p>
            <a:endParaRPr lang="es-MX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68A3F9F-0E59-A19F-FA97-6353B89AB1A0}"/>
              </a:ext>
            </a:extLst>
          </p:cNvPr>
          <p:cNvSpPr txBox="1"/>
          <p:nvPr/>
        </p:nvSpPr>
        <p:spPr>
          <a:xfrm>
            <a:off x="826681" y="517367"/>
            <a:ext cx="6097772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000" b="1" dirty="0">
                <a:latin typeface="Times"/>
                <a:cs typeface="Calibri"/>
              </a:rPr>
              <a:t>Figura X</a:t>
            </a:r>
          </a:p>
          <a:p>
            <a:pPr algn="ctr"/>
            <a:r>
              <a:rPr lang="es-E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Subtítulo de gráfica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236F1E2-E4E1-2037-167F-4D8FD34D9ECA}"/>
              </a:ext>
            </a:extLst>
          </p:cNvPr>
          <p:cNvSpPr txBox="1"/>
          <p:nvPr/>
        </p:nvSpPr>
        <p:spPr>
          <a:xfrm>
            <a:off x="2208472" y="5971301"/>
            <a:ext cx="43301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Fuentes: </a:t>
            </a:r>
            <a:r>
              <a:rPr lang="es-MX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Elaboración propia con base en X.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3444232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76A4BDB7-2147-625C-A613-094D588D58EF}"/>
              </a:ext>
            </a:extLst>
          </p:cNvPr>
          <p:cNvSpPr/>
          <p:nvPr/>
        </p:nvSpPr>
        <p:spPr>
          <a:xfrm>
            <a:off x="563525" y="795866"/>
            <a:ext cx="6909154" cy="4953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CF1821F-D143-47C1-9D98-4445FF0CD3C9}"/>
              </a:ext>
            </a:extLst>
          </p:cNvPr>
          <p:cNvSpPr txBox="1"/>
          <p:nvPr/>
        </p:nvSpPr>
        <p:spPr>
          <a:xfrm>
            <a:off x="7772402" y="1275907"/>
            <a:ext cx="421049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Para poder replicar la estructura del mapa debemos considerar los siguientes criterios:</a:t>
            </a:r>
          </a:p>
          <a:p>
            <a:r>
              <a:rPr lang="es-MX" dirty="0"/>
              <a:t>   - Recuadro de 16.78 x 19.19 cm</a:t>
            </a:r>
          </a:p>
          <a:p>
            <a:r>
              <a:rPr lang="es-MX" dirty="0"/>
              <a:t>    (alto y ancho)</a:t>
            </a:r>
          </a:p>
          <a:p>
            <a:r>
              <a:rPr lang="es-MX" dirty="0"/>
              <a:t>  - Fuente de títulos en tamaño 20 pts. </a:t>
            </a:r>
          </a:p>
          <a:p>
            <a:r>
              <a:rPr lang="es-MX" dirty="0"/>
              <a:t>  - Fuente de subtítulos y leyendas en 18  pts. </a:t>
            </a:r>
          </a:p>
          <a:p>
            <a:r>
              <a:rPr lang="es-MX" dirty="0"/>
              <a:t>  - Fuente de leyendas en 40 </a:t>
            </a:r>
            <a:r>
              <a:rPr lang="es-MX" dirty="0" err="1"/>
              <a:t>pts</a:t>
            </a:r>
            <a:r>
              <a:rPr lang="es-MX" dirty="0"/>
              <a:t> para la versión “insumo” de este documento.</a:t>
            </a:r>
          </a:p>
          <a:p>
            <a:endParaRPr lang="es-MX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1459C53-28DC-7F6B-7E0B-C1514B36DD1A}"/>
              </a:ext>
            </a:extLst>
          </p:cNvPr>
          <p:cNvSpPr txBox="1"/>
          <p:nvPr/>
        </p:nvSpPr>
        <p:spPr>
          <a:xfrm>
            <a:off x="7712593" y="4328579"/>
            <a:ext cx="43301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Fuentes: </a:t>
            </a:r>
            <a:r>
              <a:rPr lang="es-MX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Elaboración propia con base en X.</a:t>
            </a:r>
            <a:endParaRPr lang="es-MX" dirty="0"/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EDD0A8A0-62DF-73B7-CB63-8E48ACC4569D}"/>
              </a:ext>
            </a:extLst>
          </p:cNvPr>
          <p:cNvGrpSpPr/>
          <p:nvPr/>
        </p:nvGrpSpPr>
        <p:grpSpPr>
          <a:xfrm>
            <a:off x="550244" y="875797"/>
            <a:ext cx="6935716" cy="4802580"/>
            <a:chOff x="550244" y="909048"/>
            <a:chExt cx="6935716" cy="4802580"/>
          </a:xfrm>
        </p:grpSpPr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A68A3F9F-0E59-A19F-FA97-6353B89AB1A0}"/>
                </a:ext>
              </a:extLst>
            </p:cNvPr>
            <p:cNvSpPr txBox="1"/>
            <p:nvPr/>
          </p:nvSpPr>
          <p:spPr>
            <a:xfrm>
              <a:off x="826681" y="909048"/>
              <a:ext cx="609777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ES" sz="2000" b="1" dirty="0">
                  <a:latin typeface="Times"/>
                  <a:cs typeface="Calibri"/>
                </a:rPr>
                <a:t>Figura 2.1 - </a:t>
              </a:r>
              <a:r>
                <a:rPr lang="es-ES" sz="1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Distribución de municipios acorde a cercanía</a:t>
              </a:r>
            </a:p>
          </p:txBody>
        </p:sp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51A4EDD6-D595-1A19-B34B-10CA3F1F5D3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7402" t="13036" r="18132" b="7685"/>
            <a:stretch/>
          </p:blipFill>
          <p:spPr>
            <a:xfrm>
              <a:off x="563525" y="1499182"/>
              <a:ext cx="6922435" cy="4183411"/>
            </a:xfrm>
            <a:prstGeom prst="rect">
              <a:avLst/>
            </a:prstGeom>
          </p:spPr>
        </p:pic>
        <p:pic>
          <p:nvPicPr>
            <p:cNvPr id="2" name="Imagen 1">
              <a:extLst>
                <a:ext uri="{FF2B5EF4-FFF2-40B4-BE49-F238E27FC236}">
                  <a16:creationId xmlns:a16="http://schemas.microsoft.com/office/drawing/2014/main" id="{456F72A2-6761-F919-D98E-2E2A3623A98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1874" t="14764" r="4113" b="17809"/>
            <a:stretch/>
          </p:blipFill>
          <p:spPr>
            <a:xfrm>
              <a:off x="550244" y="4763380"/>
              <a:ext cx="2309943" cy="9482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021481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926D1A30-D934-A84A-B688-D50A1F84E69C}"/>
              </a:ext>
            </a:extLst>
          </p:cNvPr>
          <p:cNvGrpSpPr/>
          <p:nvPr/>
        </p:nvGrpSpPr>
        <p:grpSpPr>
          <a:xfrm>
            <a:off x="429904" y="731293"/>
            <a:ext cx="11134297" cy="5686566"/>
            <a:chOff x="429904" y="731293"/>
            <a:chExt cx="11134297" cy="5686566"/>
          </a:xfrm>
        </p:grpSpPr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E246B564-0737-4DA7-84A1-0064D1A15032}"/>
                </a:ext>
              </a:extLst>
            </p:cNvPr>
            <p:cNvSpPr/>
            <p:nvPr/>
          </p:nvSpPr>
          <p:spPr>
            <a:xfrm>
              <a:off x="429904" y="731293"/>
              <a:ext cx="11134297" cy="568656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6" name="Elipse 5">
              <a:extLst>
                <a:ext uri="{FF2B5EF4-FFF2-40B4-BE49-F238E27FC236}">
                  <a16:creationId xmlns:a16="http://schemas.microsoft.com/office/drawing/2014/main" id="{267BCA28-3841-46B0-A01B-E9B91B6C42E6}"/>
                </a:ext>
              </a:extLst>
            </p:cNvPr>
            <p:cNvSpPr/>
            <p:nvPr/>
          </p:nvSpPr>
          <p:spPr>
            <a:xfrm>
              <a:off x="1216665" y="2762800"/>
              <a:ext cx="1717341" cy="1649103"/>
            </a:xfrm>
            <a:prstGeom prst="ellipse">
              <a:avLst/>
            </a:prstGeom>
            <a:solidFill>
              <a:srgbClr val="C05555"/>
            </a:solidFill>
            <a:ln>
              <a:solidFill>
                <a:srgbClr val="C0555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E4B9A94B-520A-4175-9FA4-A7D8707BDBC2}"/>
                </a:ext>
              </a:extLst>
            </p:cNvPr>
            <p:cNvSpPr txBox="1"/>
            <p:nvPr/>
          </p:nvSpPr>
          <p:spPr>
            <a:xfrm>
              <a:off x="3223148" y="1122050"/>
              <a:ext cx="8202301" cy="938719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s-MX" sz="5500" dirty="0">
                  <a:latin typeface="Times"/>
                  <a:cs typeface="Calibri"/>
                </a:rPr>
                <a:t>Áreas Naturales Protegidas</a:t>
              </a:r>
              <a:endParaRPr lang="en-US" sz="5500" dirty="0">
                <a:latin typeface="Times"/>
                <a:cs typeface="Calibri"/>
              </a:endParaRPr>
            </a:p>
          </p:txBody>
        </p:sp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1209CD3C-05D4-4DA2-9C32-7C58B6919FC8}"/>
                </a:ext>
              </a:extLst>
            </p:cNvPr>
            <p:cNvSpPr/>
            <p:nvPr/>
          </p:nvSpPr>
          <p:spPr>
            <a:xfrm>
              <a:off x="1209674" y="820234"/>
              <a:ext cx="1717341" cy="1649103"/>
            </a:xfrm>
            <a:prstGeom prst="ellipse">
              <a:avLst/>
            </a:prstGeom>
            <a:solidFill>
              <a:srgbClr val="59886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923BBC12-2E9C-4498-A7FB-B477EEF10CC4}"/>
                </a:ext>
              </a:extLst>
            </p:cNvPr>
            <p:cNvSpPr txBox="1"/>
            <p:nvPr/>
          </p:nvSpPr>
          <p:spPr>
            <a:xfrm>
              <a:off x="3218762" y="3030496"/>
              <a:ext cx="8293287" cy="938719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s-MX" sz="5500" dirty="0">
                  <a:latin typeface="Times"/>
                  <a:cs typeface="Calibri"/>
                </a:rPr>
                <a:t>Municipios</a:t>
              </a:r>
              <a:r>
                <a:rPr lang="en-US" sz="5500" dirty="0">
                  <a:latin typeface="Times"/>
                  <a:cs typeface="Calibri"/>
                </a:rPr>
                <a:t> </a:t>
              </a:r>
              <a:r>
                <a:rPr lang="es-MX" sz="5500" dirty="0">
                  <a:latin typeface="Times"/>
                  <a:cs typeface="Calibri"/>
                </a:rPr>
                <a:t>cercanos</a:t>
              </a:r>
            </a:p>
          </p:txBody>
        </p:sp>
      </p:grp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D2CEB83-9B8D-48BA-AF93-49959D21B3EE}"/>
              </a:ext>
            </a:extLst>
          </p:cNvPr>
          <p:cNvSpPr txBox="1"/>
          <p:nvPr/>
        </p:nvSpPr>
        <p:spPr>
          <a:xfrm>
            <a:off x="425355" y="357115"/>
            <a:ext cx="98036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b="1"/>
              <a:t>Legend</a:t>
            </a:r>
            <a:endParaRPr lang="es-ES" b="1">
              <a:cs typeface="Calibri"/>
            </a:endParaRP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4E831E76-4AD0-40F0-0D37-4A2481D39F1B}"/>
              </a:ext>
            </a:extLst>
          </p:cNvPr>
          <p:cNvSpPr/>
          <p:nvPr/>
        </p:nvSpPr>
        <p:spPr>
          <a:xfrm>
            <a:off x="1209674" y="4668904"/>
            <a:ext cx="1717341" cy="1649103"/>
          </a:xfrm>
          <a:prstGeom prst="ellipse">
            <a:avLst/>
          </a:prstGeom>
          <a:solidFill>
            <a:srgbClr val="BEBEBE"/>
          </a:solidFill>
          <a:ln>
            <a:solidFill>
              <a:srgbClr val="BEBEB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F437FB26-47FA-CD0D-32D6-CA4FAAEEE576}"/>
              </a:ext>
            </a:extLst>
          </p:cNvPr>
          <p:cNvSpPr txBox="1"/>
          <p:nvPr/>
        </p:nvSpPr>
        <p:spPr>
          <a:xfrm>
            <a:off x="3211771" y="4936600"/>
            <a:ext cx="8293287" cy="9387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MX" sz="5500" dirty="0">
                <a:latin typeface="Times"/>
                <a:cs typeface="Calibri"/>
              </a:rPr>
              <a:t>Municipios</a:t>
            </a:r>
            <a:r>
              <a:rPr lang="en-US" sz="5500" dirty="0">
                <a:latin typeface="Times"/>
                <a:cs typeface="Calibri"/>
              </a:rPr>
              <a:t> </a:t>
            </a:r>
            <a:r>
              <a:rPr lang="es-MX" sz="5500" dirty="0">
                <a:latin typeface="Times"/>
                <a:cs typeface="Calibri"/>
              </a:rPr>
              <a:t>lejanos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1AD3D092-514D-B5F3-3551-FCE678E2E818}"/>
              </a:ext>
            </a:extLst>
          </p:cNvPr>
          <p:cNvGrpSpPr/>
          <p:nvPr/>
        </p:nvGrpSpPr>
        <p:grpSpPr>
          <a:xfrm>
            <a:off x="425355" y="726447"/>
            <a:ext cx="11134297" cy="5686566"/>
            <a:chOff x="425355" y="726447"/>
            <a:chExt cx="11134297" cy="5686566"/>
          </a:xfrm>
        </p:grpSpPr>
        <p:grpSp>
          <p:nvGrpSpPr>
            <p:cNvPr id="15" name="Grupo 14">
              <a:extLst>
                <a:ext uri="{FF2B5EF4-FFF2-40B4-BE49-F238E27FC236}">
                  <a16:creationId xmlns:a16="http://schemas.microsoft.com/office/drawing/2014/main" id="{0E105E9A-826C-018E-C120-2E8FCFB41FD7}"/>
                </a:ext>
              </a:extLst>
            </p:cNvPr>
            <p:cNvGrpSpPr/>
            <p:nvPr/>
          </p:nvGrpSpPr>
          <p:grpSpPr>
            <a:xfrm>
              <a:off x="425355" y="726447"/>
              <a:ext cx="11134297" cy="5686566"/>
              <a:chOff x="429904" y="731293"/>
              <a:chExt cx="11134297" cy="5686566"/>
            </a:xfrm>
          </p:grpSpPr>
          <p:sp>
            <p:nvSpPr>
              <p:cNvPr id="16" name="Rectángulo 15">
                <a:extLst>
                  <a:ext uri="{FF2B5EF4-FFF2-40B4-BE49-F238E27FC236}">
                    <a16:creationId xmlns:a16="http://schemas.microsoft.com/office/drawing/2014/main" id="{615B35E5-7E18-7D5D-6A75-75AC56F343F1}"/>
                  </a:ext>
                </a:extLst>
              </p:cNvPr>
              <p:cNvSpPr/>
              <p:nvPr/>
            </p:nvSpPr>
            <p:spPr>
              <a:xfrm>
                <a:off x="429904" y="731293"/>
                <a:ext cx="11134297" cy="568656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17" name="Elipse 16">
                <a:extLst>
                  <a:ext uri="{FF2B5EF4-FFF2-40B4-BE49-F238E27FC236}">
                    <a16:creationId xmlns:a16="http://schemas.microsoft.com/office/drawing/2014/main" id="{8F76C71F-E4FB-B5FB-6FFF-844C56F7B92C}"/>
                  </a:ext>
                </a:extLst>
              </p:cNvPr>
              <p:cNvSpPr/>
              <p:nvPr/>
            </p:nvSpPr>
            <p:spPr>
              <a:xfrm>
                <a:off x="2136596" y="3202623"/>
                <a:ext cx="719928" cy="743905"/>
              </a:xfrm>
              <a:prstGeom prst="ellipse">
                <a:avLst/>
              </a:prstGeom>
              <a:solidFill>
                <a:srgbClr val="C08D3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74A048C1-3E26-160E-0A62-674B277FE1A1}"/>
                  </a:ext>
                </a:extLst>
              </p:cNvPr>
              <p:cNvSpPr txBox="1"/>
              <p:nvPr/>
            </p:nvSpPr>
            <p:spPr>
              <a:xfrm>
                <a:off x="3216320" y="2023442"/>
                <a:ext cx="8202301" cy="938719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s-MX" sz="5500" dirty="0">
                    <a:latin typeface="Times"/>
                    <a:cs typeface="Calibri"/>
                  </a:rPr>
                  <a:t>Áreas Naturales Protegidas</a:t>
                </a:r>
                <a:endParaRPr lang="en-US" sz="5500" dirty="0">
                  <a:latin typeface="Times"/>
                  <a:cs typeface="Calibri"/>
                </a:endParaRPr>
              </a:p>
            </p:txBody>
          </p:sp>
          <p:sp>
            <p:nvSpPr>
              <p:cNvPr id="19" name="Elipse 18">
                <a:extLst>
                  <a:ext uri="{FF2B5EF4-FFF2-40B4-BE49-F238E27FC236}">
                    <a16:creationId xmlns:a16="http://schemas.microsoft.com/office/drawing/2014/main" id="{CA5D6DBE-0A64-E150-F58E-FCFB076F2364}"/>
                  </a:ext>
                </a:extLst>
              </p:cNvPr>
              <p:cNvSpPr/>
              <p:nvPr/>
            </p:nvSpPr>
            <p:spPr>
              <a:xfrm>
                <a:off x="2126039" y="2166851"/>
                <a:ext cx="719928" cy="743905"/>
              </a:xfrm>
              <a:prstGeom prst="ellipse">
                <a:avLst/>
              </a:prstGeom>
              <a:solidFill>
                <a:srgbClr val="004D4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1EB11653-2E7D-C2DF-FBB0-7860BDB44246}"/>
                  </a:ext>
                </a:extLst>
              </p:cNvPr>
              <p:cNvSpPr txBox="1"/>
              <p:nvPr/>
            </p:nvSpPr>
            <p:spPr>
              <a:xfrm>
                <a:off x="3218762" y="3030496"/>
                <a:ext cx="8293287" cy="938719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s-MX" sz="5500" dirty="0">
                    <a:latin typeface="Times"/>
                    <a:cs typeface="Calibri"/>
                  </a:rPr>
                  <a:t>Municipios</a:t>
                </a:r>
                <a:r>
                  <a:rPr lang="en-US" sz="5500" dirty="0">
                    <a:latin typeface="Times"/>
                    <a:cs typeface="Calibri"/>
                  </a:rPr>
                  <a:t> </a:t>
                </a:r>
                <a:r>
                  <a:rPr lang="es-MX" sz="5500" dirty="0">
                    <a:latin typeface="Times"/>
                    <a:cs typeface="Calibri"/>
                  </a:rPr>
                  <a:t>cercanos</a:t>
                </a:r>
              </a:p>
            </p:txBody>
          </p:sp>
        </p:grpSp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53ACA89C-CA9F-E2A4-B6CB-29A153C8B3EC}"/>
                </a:ext>
              </a:extLst>
            </p:cNvPr>
            <p:cNvSpPr/>
            <p:nvPr/>
          </p:nvSpPr>
          <p:spPr>
            <a:xfrm>
              <a:off x="2121490" y="4238980"/>
              <a:ext cx="719929" cy="743906"/>
            </a:xfrm>
            <a:prstGeom prst="ellipse">
              <a:avLst/>
            </a:prstGeom>
            <a:solidFill>
              <a:srgbClr val="BEBEBE"/>
            </a:solidFill>
            <a:ln>
              <a:solidFill>
                <a:srgbClr val="BEBEB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DDECC174-0C92-CF4C-37FA-ACB3981FAA00}"/>
                </a:ext>
              </a:extLst>
            </p:cNvPr>
            <p:cNvSpPr txBox="1"/>
            <p:nvPr/>
          </p:nvSpPr>
          <p:spPr>
            <a:xfrm>
              <a:off x="3223148" y="4141573"/>
              <a:ext cx="8293287" cy="938719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s-MX" sz="5500" dirty="0">
                  <a:latin typeface="Times"/>
                  <a:cs typeface="Calibri"/>
                </a:rPr>
                <a:t>Municipios</a:t>
              </a:r>
              <a:r>
                <a:rPr lang="en-US" sz="5500" dirty="0">
                  <a:latin typeface="Times"/>
                  <a:cs typeface="Calibri"/>
                </a:rPr>
                <a:t> </a:t>
              </a:r>
              <a:r>
                <a:rPr lang="es-MX" sz="5500" dirty="0">
                  <a:latin typeface="Times"/>
                  <a:cs typeface="Calibri"/>
                </a:rPr>
                <a:t>lejanos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359201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DCAC755D-738F-6FC7-94C9-C132766EE1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7075" y="453894"/>
            <a:ext cx="6937849" cy="5950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071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44087F73-3507-6EE8-58FF-F0BC5E25C0E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402" t="13036" r="18132" b="7685"/>
          <a:stretch/>
        </p:blipFill>
        <p:spPr>
          <a:xfrm>
            <a:off x="2342386" y="1224043"/>
            <a:ext cx="7507228" cy="4536817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DB7F6371-2DE5-A01D-FB40-DFCA785423F5}"/>
              </a:ext>
            </a:extLst>
          </p:cNvPr>
          <p:cNvSpPr txBox="1"/>
          <p:nvPr/>
        </p:nvSpPr>
        <p:spPr>
          <a:xfrm>
            <a:off x="1231846" y="214144"/>
            <a:ext cx="9100781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2400" b="1" dirty="0">
                <a:latin typeface="Times"/>
                <a:cs typeface="Calibri"/>
              </a:rPr>
              <a:t>Figura 3</a:t>
            </a:r>
          </a:p>
          <a:p>
            <a:pPr algn="ctr"/>
            <a:r>
              <a:rPr lang="es-E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Distribución de municipios acorde a cercanía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5BD4F2A-7D56-4DBC-1615-709C70D7BD36}"/>
              </a:ext>
            </a:extLst>
          </p:cNvPr>
          <p:cNvSpPr txBox="1"/>
          <p:nvPr/>
        </p:nvSpPr>
        <p:spPr>
          <a:xfrm>
            <a:off x="2211572" y="5847485"/>
            <a:ext cx="819575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b="1" dirty="0">
                <a:latin typeface="Times"/>
                <a:cs typeface="Calibri"/>
              </a:rPr>
              <a:t>Fuentes: </a:t>
            </a:r>
            <a:r>
              <a:rPr lang="es-ES" dirty="0">
                <a:latin typeface="Times"/>
                <a:cs typeface="Calibri"/>
              </a:rPr>
              <a:t>Elaboración propia utilizando el marco geoestadístico del INEGI y los sistemas de información geográfica de CONANP</a:t>
            </a:r>
            <a:r>
              <a:rPr lang="es-ES" b="1" dirty="0">
                <a:latin typeface="Times"/>
                <a:cs typeface="Calibri"/>
              </a:rPr>
              <a:t> </a:t>
            </a:r>
            <a:endParaRPr lang="es-ES" dirty="0">
              <a:latin typeface="Times"/>
              <a:cs typeface="Calibri"/>
            </a:endParaRP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E7DCF043-71DE-1B68-BBCE-DFF6686725B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315" t="21590" r="4945" b="21506"/>
          <a:stretch/>
        </p:blipFill>
        <p:spPr>
          <a:xfrm>
            <a:off x="2521819" y="4990837"/>
            <a:ext cx="2435219" cy="856648"/>
          </a:xfrm>
          <a:prstGeom prst="rect">
            <a:avLst/>
          </a:prstGeom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DB21F1B9-9D3F-5DE9-39AF-8D0B0D0A546A}"/>
              </a:ext>
            </a:extLst>
          </p:cNvPr>
          <p:cNvSpPr txBox="1">
            <a:spLocks/>
          </p:cNvSpPr>
          <p:nvPr/>
        </p:nvSpPr>
        <p:spPr>
          <a:xfrm>
            <a:off x="-63731" y="-116953"/>
            <a:ext cx="1709651" cy="57557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l" defTabSz="91441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b="1" dirty="0">
                <a:latin typeface="Times" panose="02020603050405020304" pitchFamily="18" charset="0"/>
                <a:cs typeface="Times" panose="02020603050405020304" pitchFamily="18" charset="0"/>
              </a:rPr>
              <a:t>Figura 3 (versión alfa)</a:t>
            </a:r>
          </a:p>
        </p:txBody>
      </p:sp>
    </p:spTree>
    <p:extLst>
      <p:ext uri="{BB962C8B-B14F-4D97-AF65-F5344CB8AC3E}">
        <p14:creationId xmlns:p14="http://schemas.microsoft.com/office/powerpoint/2010/main" val="10350657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92AD94B4-7F8F-7075-CDA6-D1F9D3C5D71F}"/>
              </a:ext>
            </a:extLst>
          </p:cNvPr>
          <p:cNvGrpSpPr/>
          <p:nvPr/>
        </p:nvGrpSpPr>
        <p:grpSpPr>
          <a:xfrm>
            <a:off x="563525" y="342918"/>
            <a:ext cx="6909154" cy="6039160"/>
            <a:chOff x="563525" y="342918"/>
            <a:chExt cx="6909154" cy="6039160"/>
          </a:xfrm>
        </p:grpSpPr>
        <p:sp>
          <p:nvSpPr>
            <p:cNvPr id="3" name="Rectángulo 2">
              <a:extLst>
                <a:ext uri="{FF2B5EF4-FFF2-40B4-BE49-F238E27FC236}">
                  <a16:creationId xmlns:a16="http://schemas.microsoft.com/office/drawing/2014/main" id="{76A4BDB7-2147-625C-A613-094D588D58EF}"/>
                </a:ext>
              </a:extLst>
            </p:cNvPr>
            <p:cNvSpPr/>
            <p:nvPr/>
          </p:nvSpPr>
          <p:spPr>
            <a:xfrm>
              <a:off x="563525" y="342918"/>
              <a:ext cx="6909154" cy="6039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A68A3F9F-0E59-A19F-FA97-6353B89AB1A0}"/>
                </a:ext>
              </a:extLst>
            </p:cNvPr>
            <p:cNvSpPr txBox="1"/>
            <p:nvPr/>
          </p:nvSpPr>
          <p:spPr>
            <a:xfrm>
              <a:off x="826681" y="517367"/>
              <a:ext cx="6097772" cy="6771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ES" sz="2000" b="1" dirty="0">
                  <a:latin typeface="Times"/>
                  <a:cs typeface="Calibri"/>
                </a:rPr>
                <a:t>Figura 5</a:t>
              </a:r>
            </a:p>
            <a:p>
              <a:pPr algn="ctr"/>
              <a:r>
                <a:rPr lang="es-E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Densidad del índice de propensión</a:t>
              </a:r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3236F1E2-E4E1-2037-167F-4D8FD34D9ECA}"/>
                </a:ext>
              </a:extLst>
            </p:cNvPr>
            <p:cNvSpPr txBox="1"/>
            <p:nvPr/>
          </p:nvSpPr>
          <p:spPr>
            <a:xfrm>
              <a:off x="2274974" y="5517993"/>
              <a:ext cx="433010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MX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Fuentes: </a:t>
              </a:r>
              <a:r>
                <a:rPr lang="es-MX" sz="1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Elaboración propia con {ggplot2}.</a:t>
              </a:r>
              <a:endParaRPr lang="es-MX" dirty="0"/>
            </a:p>
          </p:txBody>
        </p:sp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8962FA05-57FA-8236-5B6A-8F228D4346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81412" y="1675716"/>
              <a:ext cx="6873380" cy="3842277"/>
            </a:xfrm>
            <a:prstGeom prst="rect">
              <a:avLst/>
            </a:prstGeom>
            <a:solidFill>
              <a:srgbClr val="425569"/>
            </a:solidFill>
          </p:spPr>
        </p:pic>
      </p:grpSp>
      <p:pic>
        <p:nvPicPr>
          <p:cNvPr id="2" name="Imagen 1">
            <a:extLst>
              <a:ext uri="{FF2B5EF4-FFF2-40B4-BE49-F238E27FC236}">
                <a16:creationId xmlns:a16="http://schemas.microsoft.com/office/drawing/2014/main" id="{A9F7FA40-96F1-37E6-FB1D-5872F8D0D7E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137" t="15365" r="17521" b="43365"/>
          <a:stretch/>
        </p:blipFill>
        <p:spPr>
          <a:xfrm>
            <a:off x="668739" y="1679676"/>
            <a:ext cx="2059774" cy="645300"/>
          </a:xfrm>
          <a:prstGeom prst="rect">
            <a:avLst/>
          </a:prstGeom>
        </p:spPr>
      </p:pic>
      <p:grpSp>
        <p:nvGrpSpPr>
          <p:cNvPr id="7" name="Grupo 6">
            <a:extLst>
              <a:ext uri="{FF2B5EF4-FFF2-40B4-BE49-F238E27FC236}">
                <a16:creationId xmlns:a16="http://schemas.microsoft.com/office/drawing/2014/main" id="{1BB308A5-C184-C6E6-200B-3F2BFC106742}"/>
              </a:ext>
            </a:extLst>
          </p:cNvPr>
          <p:cNvGrpSpPr/>
          <p:nvPr/>
        </p:nvGrpSpPr>
        <p:grpSpPr>
          <a:xfrm>
            <a:off x="563525" y="309668"/>
            <a:ext cx="6909154" cy="6039160"/>
            <a:chOff x="563525" y="309668"/>
            <a:chExt cx="6909154" cy="6039160"/>
          </a:xfrm>
        </p:grpSpPr>
        <p:grpSp>
          <p:nvGrpSpPr>
            <p:cNvPr id="17" name="Grupo 16">
              <a:extLst>
                <a:ext uri="{FF2B5EF4-FFF2-40B4-BE49-F238E27FC236}">
                  <a16:creationId xmlns:a16="http://schemas.microsoft.com/office/drawing/2014/main" id="{77BD0187-FA07-8038-7C5E-CBE7E40A829A}"/>
                </a:ext>
              </a:extLst>
            </p:cNvPr>
            <p:cNvGrpSpPr/>
            <p:nvPr/>
          </p:nvGrpSpPr>
          <p:grpSpPr>
            <a:xfrm>
              <a:off x="563525" y="309668"/>
              <a:ext cx="6909154" cy="6039160"/>
              <a:chOff x="563525" y="342918"/>
              <a:chExt cx="6909154" cy="6039160"/>
            </a:xfrm>
          </p:grpSpPr>
          <p:sp>
            <p:nvSpPr>
              <p:cNvPr id="18" name="Rectángulo 17">
                <a:extLst>
                  <a:ext uri="{FF2B5EF4-FFF2-40B4-BE49-F238E27FC236}">
                    <a16:creationId xmlns:a16="http://schemas.microsoft.com/office/drawing/2014/main" id="{A960CDE0-17AD-8A62-8E16-FF6FE8C2EC34}"/>
                  </a:ext>
                </a:extLst>
              </p:cNvPr>
              <p:cNvSpPr/>
              <p:nvPr/>
            </p:nvSpPr>
            <p:spPr>
              <a:xfrm>
                <a:off x="563525" y="342918"/>
                <a:ext cx="6909154" cy="603916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6788B18F-EE85-9D6A-CC07-7BBC1C20A851}"/>
                  </a:ext>
                </a:extLst>
              </p:cNvPr>
              <p:cNvSpPr txBox="1"/>
              <p:nvPr/>
            </p:nvSpPr>
            <p:spPr>
              <a:xfrm>
                <a:off x="826681" y="517367"/>
                <a:ext cx="6097772" cy="6771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s-ES" sz="2000" b="1" dirty="0">
                    <a:latin typeface="Times"/>
                    <a:cs typeface="Calibri"/>
                  </a:rPr>
                  <a:t>Figura 5</a:t>
                </a:r>
              </a:p>
              <a:p>
                <a:pPr algn="ctr"/>
                <a:r>
                  <a:rPr lang="es-E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Densidad del índice de propensión</a:t>
                </a:r>
              </a:p>
            </p:txBody>
          </p:sp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8BB865AC-14B7-7FAD-BF4E-83449D60DD5A}"/>
                  </a:ext>
                </a:extLst>
              </p:cNvPr>
              <p:cNvSpPr txBox="1"/>
              <p:nvPr/>
            </p:nvSpPr>
            <p:spPr>
              <a:xfrm>
                <a:off x="2274974" y="5517993"/>
                <a:ext cx="433010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MX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Fuentes: </a:t>
                </a:r>
                <a:r>
                  <a:rPr lang="es-MX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Elaboración propia con {ggplot2}.</a:t>
                </a:r>
                <a:endParaRPr lang="es-MX" dirty="0"/>
              </a:p>
            </p:txBody>
          </p:sp>
          <p:pic>
            <p:nvPicPr>
              <p:cNvPr id="21" name="Imagen 20">
                <a:extLst>
                  <a:ext uri="{FF2B5EF4-FFF2-40B4-BE49-F238E27FC236}">
                    <a16:creationId xmlns:a16="http://schemas.microsoft.com/office/drawing/2014/main" id="{798AD101-1FD9-1B02-5DE2-B89F372141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81412" y="1675716"/>
                <a:ext cx="6873380" cy="3842277"/>
              </a:xfrm>
              <a:prstGeom prst="rect">
                <a:avLst/>
              </a:prstGeom>
              <a:solidFill>
                <a:srgbClr val="425569"/>
              </a:solidFill>
            </p:spPr>
          </p:pic>
        </p:grpSp>
        <p:pic>
          <p:nvPicPr>
            <p:cNvPr id="22" name="Imagen 21">
              <a:extLst>
                <a:ext uri="{FF2B5EF4-FFF2-40B4-BE49-F238E27FC236}">
                  <a16:creationId xmlns:a16="http://schemas.microsoft.com/office/drawing/2014/main" id="{3A231702-2E91-450F-029F-7B129F2CFE8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5137" t="15365" r="17521" b="43365"/>
            <a:stretch/>
          </p:blipFill>
          <p:spPr>
            <a:xfrm>
              <a:off x="668739" y="1646426"/>
              <a:ext cx="2059774" cy="6453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669231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o 11">
            <a:extLst>
              <a:ext uri="{FF2B5EF4-FFF2-40B4-BE49-F238E27FC236}">
                <a16:creationId xmlns:a16="http://schemas.microsoft.com/office/drawing/2014/main" id="{4E4DCBE6-05DA-49C4-8131-C67D6CF553F7}"/>
              </a:ext>
            </a:extLst>
          </p:cNvPr>
          <p:cNvGrpSpPr/>
          <p:nvPr/>
        </p:nvGrpSpPr>
        <p:grpSpPr>
          <a:xfrm>
            <a:off x="427629" y="726447"/>
            <a:ext cx="11134297" cy="5686566"/>
            <a:chOff x="427629" y="726447"/>
            <a:chExt cx="11134297" cy="5686566"/>
          </a:xfrm>
        </p:grpSpPr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E246B564-0737-4DA7-84A1-0064D1A15032}"/>
                </a:ext>
              </a:extLst>
            </p:cNvPr>
            <p:cNvSpPr/>
            <p:nvPr/>
          </p:nvSpPr>
          <p:spPr>
            <a:xfrm>
              <a:off x="427629" y="726447"/>
              <a:ext cx="11134297" cy="568656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6" name="Elipse 5">
              <a:extLst>
                <a:ext uri="{FF2B5EF4-FFF2-40B4-BE49-F238E27FC236}">
                  <a16:creationId xmlns:a16="http://schemas.microsoft.com/office/drawing/2014/main" id="{267BCA28-3841-46B0-A01B-E9B91B6C42E6}"/>
                </a:ext>
              </a:extLst>
            </p:cNvPr>
            <p:cNvSpPr/>
            <p:nvPr/>
          </p:nvSpPr>
          <p:spPr>
            <a:xfrm>
              <a:off x="2194560" y="3096705"/>
              <a:ext cx="770021" cy="736102"/>
            </a:xfrm>
            <a:prstGeom prst="ellipse">
              <a:avLst/>
            </a:prstGeom>
            <a:solidFill>
              <a:srgbClr val="529FDB"/>
            </a:solidFill>
            <a:ln>
              <a:solidFill>
                <a:srgbClr val="529FD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E4B9A94B-520A-4175-9FA4-A7D8707BDBC2}"/>
                </a:ext>
              </a:extLst>
            </p:cNvPr>
            <p:cNvSpPr txBox="1"/>
            <p:nvPr/>
          </p:nvSpPr>
          <p:spPr>
            <a:xfrm>
              <a:off x="3162103" y="1711382"/>
              <a:ext cx="8202301" cy="938719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s-MX" sz="5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Municipios</a:t>
              </a:r>
              <a:r>
                <a:rPr lang="en-US" sz="5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MX" sz="5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en</a:t>
              </a:r>
              <a:r>
                <a:rPr lang="en-US" sz="5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control</a:t>
              </a:r>
            </a:p>
          </p:txBody>
        </p:sp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1209CD3C-05D4-4DA2-9C32-7C58B6919FC8}"/>
                </a:ext>
              </a:extLst>
            </p:cNvPr>
            <p:cNvSpPr/>
            <p:nvPr/>
          </p:nvSpPr>
          <p:spPr>
            <a:xfrm>
              <a:off x="2194560" y="1913999"/>
              <a:ext cx="770022" cy="736102"/>
            </a:xfrm>
            <a:prstGeom prst="ellipse">
              <a:avLst/>
            </a:prstGeom>
            <a:solidFill>
              <a:srgbClr val="425569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923BBC12-2E9C-4498-A7FB-B477EEF10CC4}"/>
                </a:ext>
              </a:extLst>
            </p:cNvPr>
            <p:cNvSpPr txBox="1"/>
            <p:nvPr/>
          </p:nvSpPr>
          <p:spPr>
            <a:xfrm>
              <a:off x="3177654" y="2959640"/>
              <a:ext cx="8293287" cy="938719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s-MX" sz="5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Municipios</a:t>
              </a:r>
              <a:r>
                <a:rPr lang="en-US" sz="5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MX" sz="5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cercanos</a:t>
              </a:r>
            </a:p>
          </p:txBody>
        </p:sp>
      </p:grp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D2CEB83-9B8D-48BA-AF93-49959D21B3EE}"/>
              </a:ext>
            </a:extLst>
          </p:cNvPr>
          <p:cNvSpPr txBox="1"/>
          <p:nvPr/>
        </p:nvSpPr>
        <p:spPr>
          <a:xfrm>
            <a:off x="425355" y="357115"/>
            <a:ext cx="98036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b="1"/>
              <a:t>Legend</a:t>
            </a:r>
            <a:endParaRPr lang="es-ES" b="1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15144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89E5209B-2B41-51E9-ED75-242F05EF82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0518" y="199105"/>
            <a:ext cx="10870964" cy="5797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9280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750EF034-D494-1418-DD4F-5F2EB0E71FF9}"/>
              </a:ext>
            </a:extLst>
          </p:cNvPr>
          <p:cNvSpPr txBox="1">
            <a:spLocks/>
          </p:cNvSpPr>
          <p:nvPr/>
        </p:nvSpPr>
        <p:spPr>
          <a:xfrm>
            <a:off x="135775" y="33251"/>
            <a:ext cx="1709651" cy="5755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1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b="1" dirty="0">
                <a:latin typeface="Times" panose="02020603050405020304" pitchFamily="18" charset="0"/>
                <a:cs typeface="Times" panose="02020603050405020304" pitchFamily="18" charset="0"/>
              </a:rPr>
              <a:t>Figura 5</a:t>
            </a: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50DE5E50-D870-A492-4EA0-ABE886308ED0}"/>
              </a:ext>
            </a:extLst>
          </p:cNvPr>
          <p:cNvGrpSpPr/>
          <p:nvPr/>
        </p:nvGrpSpPr>
        <p:grpSpPr>
          <a:xfrm>
            <a:off x="2519314" y="633985"/>
            <a:ext cx="9100781" cy="5165083"/>
            <a:chOff x="2519314" y="633985"/>
            <a:chExt cx="9100781" cy="5165083"/>
          </a:xfrm>
        </p:grpSpPr>
        <p:sp>
          <p:nvSpPr>
            <p:cNvPr id="4" name="CuadroTexto 3">
              <a:extLst>
                <a:ext uri="{FF2B5EF4-FFF2-40B4-BE49-F238E27FC236}">
                  <a16:creationId xmlns:a16="http://schemas.microsoft.com/office/drawing/2014/main" id="{C0D63D22-43C5-462E-AF83-E8E2223CBA45}"/>
                </a:ext>
              </a:extLst>
            </p:cNvPr>
            <p:cNvSpPr txBox="1"/>
            <p:nvPr/>
          </p:nvSpPr>
          <p:spPr>
            <a:xfrm>
              <a:off x="2519314" y="633985"/>
              <a:ext cx="9100781" cy="46166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s-ES" sz="2400" b="1" dirty="0">
                  <a:latin typeface="Times"/>
                  <a:cs typeface="Calibri"/>
                </a:rPr>
                <a:t>Figura 2.3 - Densidad en el índice de propensión</a:t>
              </a:r>
            </a:p>
          </p:txBody>
        </p:sp>
        <p:pic>
          <p:nvPicPr>
            <p:cNvPr id="3" name="Imagen 2">
              <a:extLst>
                <a:ext uri="{FF2B5EF4-FFF2-40B4-BE49-F238E27FC236}">
                  <a16:creationId xmlns:a16="http://schemas.microsoft.com/office/drawing/2014/main" id="{5BFCAACC-30FF-90CC-C3F8-E564741F2A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82949" y="1418815"/>
              <a:ext cx="8212974" cy="4380253"/>
            </a:xfrm>
            <a:prstGeom prst="rect">
              <a:avLst/>
            </a:prstGeom>
          </p:spPr>
        </p:pic>
        <p:sp>
          <p:nvSpPr>
            <p:cNvPr id="5" name="CuadroTexto 4">
              <a:extLst>
                <a:ext uri="{FF2B5EF4-FFF2-40B4-BE49-F238E27FC236}">
                  <a16:creationId xmlns:a16="http://schemas.microsoft.com/office/drawing/2014/main" id="{29BA7B49-59C5-B249-0532-0F8858741280}"/>
                </a:ext>
              </a:extLst>
            </p:cNvPr>
            <p:cNvSpPr txBox="1"/>
            <p:nvPr/>
          </p:nvSpPr>
          <p:spPr>
            <a:xfrm>
              <a:off x="6339123" y="1234149"/>
              <a:ext cx="11006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b="1" dirty="0">
                  <a:solidFill>
                    <a:srgbClr val="0724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Cercanos</a:t>
              </a:r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37CC2763-E7DB-2548-E62A-794331C068BC}"/>
                </a:ext>
              </a:extLst>
            </p:cNvPr>
            <p:cNvSpPr txBox="1"/>
            <p:nvPr/>
          </p:nvSpPr>
          <p:spPr>
            <a:xfrm>
              <a:off x="4820645" y="2169096"/>
              <a:ext cx="14262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b="1" dirty="0">
                  <a:solidFill>
                    <a:srgbClr val="0724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No cercanos</a:t>
              </a:r>
            </a:p>
          </p:txBody>
        </p:sp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0EEA2773-B4AF-D8C8-1615-BAC24B52E84B}"/>
                </a:ext>
              </a:extLst>
            </p:cNvPr>
            <p:cNvSpPr txBox="1"/>
            <p:nvPr/>
          </p:nvSpPr>
          <p:spPr>
            <a:xfrm>
              <a:off x="6339123" y="3801194"/>
              <a:ext cx="106213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Soporte común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452030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03C18D99-B7F6-88BC-E52C-8E1A0C148AEE}"/>
              </a:ext>
            </a:extLst>
          </p:cNvPr>
          <p:cNvGrpSpPr/>
          <p:nvPr/>
        </p:nvGrpSpPr>
        <p:grpSpPr>
          <a:xfrm>
            <a:off x="5215446" y="1103180"/>
            <a:ext cx="5955685" cy="4382479"/>
            <a:chOff x="5215446" y="1103180"/>
            <a:chExt cx="5955685" cy="4382479"/>
          </a:xfrm>
        </p:grpSpPr>
        <p:sp>
          <p:nvSpPr>
            <p:cNvPr id="4" name="CuadroTexto 3">
              <a:extLst>
                <a:ext uri="{FF2B5EF4-FFF2-40B4-BE49-F238E27FC236}">
                  <a16:creationId xmlns:a16="http://schemas.microsoft.com/office/drawing/2014/main" id="{C0D63D22-43C5-462E-AF83-E8E2223CBA45}"/>
                </a:ext>
              </a:extLst>
            </p:cNvPr>
            <p:cNvSpPr txBox="1"/>
            <p:nvPr/>
          </p:nvSpPr>
          <p:spPr>
            <a:xfrm>
              <a:off x="5816601" y="1103180"/>
              <a:ext cx="5354530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s-ES" sz="2000" b="1" dirty="0">
                  <a:latin typeface="Times"/>
                  <a:cs typeface="Calibri"/>
                </a:rPr>
                <a:t>Figura 2.4 - </a:t>
              </a:r>
              <a:r>
                <a:rPr lang="es-ES" b="1" dirty="0">
                  <a:latin typeface="Times"/>
                  <a:cs typeface="Calibri"/>
                </a:rPr>
                <a:t>Tablas de balance para las variables</a:t>
              </a:r>
            </a:p>
          </p:txBody>
        </p:sp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BF7DD093-F535-32B3-9B41-C900EEE647C5}"/>
                </a:ext>
              </a:extLst>
            </p:cNvPr>
            <p:cNvSpPr txBox="1"/>
            <p:nvPr/>
          </p:nvSpPr>
          <p:spPr>
            <a:xfrm>
              <a:off x="6096000" y="4654662"/>
              <a:ext cx="5075131" cy="830997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just"/>
              <a:r>
                <a:rPr lang="es-ES" sz="1600" b="1" dirty="0">
                  <a:latin typeface="Times"/>
                  <a:cs typeface="Calibri"/>
                </a:rPr>
                <a:t>Nota: </a:t>
              </a:r>
              <a:r>
                <a:rPr lang="es-ES" sz="1600" dirty="0">
                  <a:latin typeface="Times"/>
                  <a:cs typeface="Calibri"/>
                </a:rPr>
                <a:t>El tamaño de muestra emparejado equivale a un</a:t>
              </a:r>
              <a:r>
                <a:rPr lang="es-ES" sz="1600" b="1" dirty="0">
                  <a:latin typeface="Times"/>
                  <a:cs typeface="Calibri"/>
                </a:rPr>
                <a:t> </a:t>
              </a:r>
              <a:r>
                <a:rPr lang="es-ES" sz="1600" dirty="0" err="1">
                  <a:latin typeface="Times"/>
                  <a:cs typeface="Calibri"/>
                </a:rPr>
                <a:t>Effective</a:t>
              </a:r>
              <a:r>
                <a:rPr lang="es-ES" sz="1600" dirty="0">
                  <a:latin typeface="Times"/>
                  <a:cs typeface="Calibri"/>
                </a:rPr>
                <a:t> </a:t>
              </a:r>
              <a:r>
                <a:rPr lang="es-ES" sz="1600" dirty="0" err="1">
                  <a:latin typeface="Times"/>
                  <a:cs typeface="Calibri"/>
                </a:rPr>
                <a:t>Sample</a:t>
              </a:r>
              <a:r>
                <a:rPr lang="es-ES" sz="1600" dirty="0">
                  <a:latin typeface="Times"/>
                  <a:cs typeface="Calibri"/>
                </a:rPr>
                <a:t> </a:t>
              </a:r>
              <a:r>
                <a:rPr lang="es-ES" sz="1600" dirty="0" err="1">
                  <a:latin typeface="Times"/>
                  <a:cs typeface="Calibri"/>
                </a:rPr>
                <a:t>Size</a:t>
              </a:r>
              <a:r>
                <a:rPr lang="es-ES" sz="1600" dirty="0">
                  <a:latin typeface="Times"/>
                  <a:cs typeface="Calibri"/>
                </a:rPr>
                <a:t> (ESS) de 541.6, o bien, un tamaño sin pesaje de 1386 observaciones. </a:t>
              </a:r>
            </a:p>
          </p:txBody>
        </p:sp>
        <p:pic>
          <p:nvPicPr>
            <p:cNvPr id="3" name="Imagen 2">
              <a:extLst>
                <a:ext uri="{FF2B5EF4-FFF2-40B4-BE49-F238E27FC236}">
                  <a16:creationId xmlns:a16="http://schemas.microsoft.com/office/drawing/2014/main" id="{CE8EE17E-FA3D-1874-4743-792C920718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15446" y="1503290"/>
              <a:ext cx="5611231" cy="2992657"/>
            </a:xfrm>
            <a:prstGeom prst="rect">
              <a:avLst/>
            </a:prstGeom>
          </p:spPr>
        </p:pic>
      </p:grpSp>
      <p:sp>
        <p:nvSpPr>
          <p:cNvPr id="7" name="Título 1">
            <a:extLst>
              <a:ext uri="{FF2B5EF4-FFF2-40B4-BE49-F238E27FC236}">
                <a16:creationId xmlns:a16="http://schemas.microsoft.com/office/drawing/2014/main" id="{3FA47C80-BF16-9C23-A022-4203FCC8C846}"/>
              </a:ext>
            </a:extLst>
          </p:cNvPr>
          <p:cNvSpPr txBox="1">
            <a:spLocks/>
          </p:cNvSpPr>
          <p:nvPr/>
        </p:nvSpPr>
        <p:spPr>
          <a:xfrm>
            <a:off x="135775" y="33251"/>
            <a:ext cx="1709651" cy="5755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1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b="1" dirty="0">
                <a:latin typeface="Times" panose="02020603050405020304" pitchFamily="18" charset="0"/>
                <a:cs typeface="Times" panose="02020603050405020304" pitchFamily="18" charset="0"/>
              </a:rPr>
              <a:t>Figura 6</a:t>
            </a:r>
          </a:p>
        </p:txBody>
      </p:sp>
    </p:spTree>
    <p:extLst>
      <p:ext uri="{BB962C8B-B14F-4D97-AF65-F5344CB8AC3E}">
        <p14:creationId xmlns:p14="http://schemas.microsoft.com/office/powerpoint/2010/main" val="21202796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76A4BDB7-2147-625C-A613-094D588D58EF}"/>
              </a:ext>
            </a:extLst>
          </p:cNvPr>
          <p:cNvSpPr/>
          <p:nvPr/>
        </p:nvSpPr>
        <p:spPr>
          <a:xfrm>
            <a:off x="563525" y="509173"/>
            <a:ext cx="6909154" cy="60391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pSp>
        <p:nvGrpSpPr>
          <p:cNvPr id="28" name="Grupo 27">
            <a:extLst>
              <a:ext uri="{FF2B5EF4-FFF2-40B4-BE49-F238E27FC236}">
                <a16:creationId xmlns:a16="http://schemas.microsoft.com/office/drawing/2014/main" id="{64DF16AA-1203-31F2-3094-FD908419058E}"/>
              </a:ext>
            </a:extLst>
          </p:cNvPr>
          <p:cNvGrpSpPr/>
          <p:nvPr/>
        </p:nvGrpSpPr>
        <p:grpSpPr>
          <a:xfrm>
            <a:off x="1216075" y="577640"/>
            <a:ext cx="6933937" cy="4953324"/>
            <a:chOff x="538741" y="718992"/>
            <a:chExt cx="6933937" cy="4953324"/>
          </a:xfrm>
        </p:grpSpPr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A68A3F9F-0E59-A19F-FA97-6353B89AB1A0}"/>
                </a:ext>
              </a:extLst>
            </p:cNvPr>
            <p:cNvSpPr txBox="1"/>
            <p:nvPr/>
          </p:nvSpPr>
          <p:spPr>
            <a:xfrm>
              <a:off x="826681" y="718992"/>
              <a:ext cx="609777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ES" sz="2000" b="1" dirty="0">
                  <a:latin typeface="Times"/>
                  <a:cs typeface="Calibri"/>
                </a:rPr>
                <a:t>Figura 2.5 - </a:t>
              </a:r>
              <a:r>
                <a:rPr lang="es-ES" sz="1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Índice de propensión por municipio</a:t>
              </a:r>
            </a:p>
          </p:txBody>
        </p:sp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4783D6B1-68D9-2784-9076-8DC511F5B9E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28" t="22894" r="2382" b="18308"/>
            <a:stretch/>
          </p:blipFill>
          <p:spPr>
            <a:xfrm>
              <a:off x="588308" y="1210623"/>
              <a:ext cx="6884370" cy="4212502"/>
            </a:xfrm>
            <a:prstGeom prst="rect">
              <a:avLst/>
            </a:prstGeom>
          </p:spPr>
        </p:pic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DF227E83-5627-83E5-0204-988D1EE3C36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0665" t="10418" r="17780" b="25718"/>
            <a:stretch/>
          </p:blipFill>
          <p:spPr>
            <a:xfrm>
              <a:off x="538741" y="4430684"/>
              <a:ext cx="2719848" cy="12416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606554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uadroTexto 10">
            <a:extLst>
              <a:ext uri="{FF2B5EF4-FFF2-40B4-BE49-F238E27FC236}">
                <a16:creationId xmlns:a16="http://schemas.microsoft.com/office/drawing/2014/main" id="{DD2CEB83-9B8D-48BA-AF93-49959D21B3EE}"/>
              </a:ext>
            </a:extLst>
          </p:cNvPr>
          <p:cNvSpPr txBox="1"/>
          <p:nvPr/>
        </p:nvSpPr>
        <p:spPr>
          <a:xfrm>
            <a:off x="0" y="6350297"/>
            <a:ext cx="98036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b="1" dirty="0" err="1"/>
              <a:t>Legend</a:t>
            </a:r>
            <a:endParaRPr lang="es-ES" b="1" dirty="0">
              <a:cs typeface="Calibri"/>
            </a:endParaRPr>
          </a:p>
        </p:txBody>
      </p:sp>
      <p:grpSp>
        <p:nvGrpSpPr>
          <p:cNvPr id="32" name="Grupo 31">
            <a:extLst>
              <a:ext uri="{FF2B5EF4-FFF2-40B4-BE49-F238E27FC236}">
                <a16:creationId xmlns:a16="http://schemas.microsoft.com/office/drawing/2014/main" id="{8219C6EC-97CD-4E17-B089-ECAE56C91854}"/>
              </a:ext>
            </a:extLst>
          </p:cNvPr>
          <p:cNvGrpSpPr/>
          <p:nvPr/>
        </p:nvGrpSpPr>
        <p:grpSpPr>
          <a:xfrm>
            <a:off x="278593" y="848397"/>
            <a:ext cx="11134297" cy="5686566"/>
            <a:chOff x="686942" y="-96339"/>
            <a:chExt cx="11134297" cy="5686566"/>
          </a:xfrm>
        </p:grpSpPr>
        <p:grpSp>
          <p:nvGrpSpPr>
            <p:cNvPr id="3" name="Grupo 2">
              <a:extLst>
                <a:ext uri="{FF2B5EF4-FFF2-40B4-BE49-F238E27FC236}">
                  <a16:creationId xmlns:a16="http://schemas.microsoft.com/office/drawing/2014/main" id="{1AD3D092-514D-B5F3-3551-FCE678E2E818}"/>
                </a:ext>
              </a:extLst>
            </p:cNvPr>
            <p:cNvGrpSpPr/>
            <p:nvPr/>
          </p:nvGrpSpPr>
          <p:grpSpPr>
            <a:xfrm>
              <a:off x="686942" y="-96339"/>
              <a:ext cx="11134297" cy="5686566"/>
              <a:chOff x="547482" y="572560"/>
              <a:chExt cx="11134297" cy="5686566"/>
            </a:xfrm>
          </p:grpSpPr>
          <p:grpSp>
            <p:nvGrpSpPr>
              <p:cNvPr id="15" name="Grupo 14">
                <a:extLst>
                  <a:ext uri="{FF2B5EF4-FFF2-40B4-BE49-F238E27FC236}">
                    <a16:creationId xmlns:a16="http://schemas.microsoft.com/office/drawing/2014/main" id="{0E105E9A-826C-018E-C120-2E8FCFB41FD7}"/>
                  </a:ext>
                </a:extLst>
              </p:cNvPr>
              <p:cNvGrpSpPr/>
              <p:nvPr/>
            </p:nvGrpSpPr>
            <p:grpSpPr>
              <a:xfrm>
                <a:off x="547482" y="572560"/>
                <a:ext cx="11134297" cy="5686566"/>
                <a:chOff x="552031" y="577406"/>
                <a:chExt cx="11134297" cy="5686566"/>
              </a:xfrm>
            </p:grpSpPr>
            <p:sp>
              <p:nvSpPr>
                <p:cNvPr id="16" name="Rectángulo 15">
                  <a:extLst>
                    <a:ext uri="{FF2B5EF4-FFF2-40B4-BE49-F238E27FC236}">
                      <a16:creationId xmlns:a16="http://schemas.microsoft.com/office/drawing/2014/main" id="{615B35E5-7E18-7D5D-6A75-75AC56F343F1}"/>
                    </a:ext>
                  </a:extLst>
                </p:cNvPr>
                <p:cNvSpPr/>
                <p:nvPr/>
              </p:nvSpPr>
              <p:spPr>
                <a:xfrm>
                  <a:off x="552031" y="577406"/>
                  <a:ext cx="11134297" cy="568656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sz="1600" dirty="0"/>
                </a:p>
              </p:txBody>
            </p:sp>
            <p:sp>
              <p:nvSpPr>
                <p:cNvPr id="17" name="Elipse 16">
                  <a:extLst>
                    <a:ext uri="{FF2B5EF4-FFF2-40B4-BE49-F238E27FC236}">
                      <a16:creationId xmlns:a16="http://schemas.microsoft.com/office/drawing/2014/main" id="{8F76C71F-E4FB-B5FB-6FFF-844C56F7B92C}"/>
                    </a:ext>
                  </a:extLst>
                </p:cNvPr>
                <p:cNvSpPr/>
                <p:nvPr/>
              </p:nvSpPr>
              <p:spPr>
                <a:xfrm>
                  <a:off x="2028805" y="2250645"/>
                  <a:ext cx="621033" cy="611753"/>
                </a:xfrm>
                <a:prstGeom prst="ellipse">
                  <a:avLst/>
                </a:prstGeom>
                <a:solidFill>
                  <a:srgbClr val="7A31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8" name="CuadroTexto 17">
                  <a:extLst>
                    <a:ext uri="{FF2B5EF4-FFF2-40B4-BE49-F238E27FC236}">
                      <a16:creationId xmlns:a16="http://schemas.microsoft.com/office/drawing/2014/main" id="{74A048C1-3E26-160E-0A62-674B277FE1A1}"/>
                    </a:ext>
                  </a:extLst>
                </p:cNvPr>
                <p:cNvSpPr txBox="1"/>
                <p:nvPr/>
              </p:nvSpPr>
              <p:spPr>
                <a:xfrm>
                  <a:off x="2781733" y="1157656"/>
                  <a:ext cx="8202301" cy="707886"/>
                </a:xfrm>
                <a:prstGeom prst="rect">
                  <a:avLst/>
                </a:prstGeom>
                <a:noFill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r>
                    <a:rPr lang="es-MX" sz="4000" dirty="0">
                      <a:latin typeface="Times"/>
                      <a:cs typeface="Calibri"/>
                    </a:rPr>
                    <a:t>Áreas Naturales Protegidas</a:t>
                  </a:r>
                  <a:endParaRPr lang="en-US" sz="4000" dirty="0">
                    <a:latin typeface="Times"/>
                    <a:cs typeface="Calibri"/>
                  </a:endParaRPr>
                </a:p>
              </p:txBody>
            </p:sp>
            <p:sp>
              <p:nvSpPr>
                <p:cNvPr id="19" name="Elipse 18">
                  <a:extLst>
                    <a:ext uri="{FF2B5EF4-FFF2-40B4-BE49-F238E27FC236}">
                      <a16:creationId xmlns:a16="http://schemas.microsoft.com/office/drawing/2014/main" id="{CA5D6DBE-0A64-E150-F58E-FCFB076F2364}"/>
                    </a:ext>
                  </a:extLst>
                </p:cNvPr>
                <p:cNvSpPr/>
                <p:nvPr/>
              </p:nvSpPr>
              <p:spPr>
                <a:xfrm>
                  <a:off x="2021403" y="1272707"/>
                  <a:ext cx="621033" cy="611753"/>
                </a:xfrm>
                <a:prstGeom prst="ellipse">
                  <a:avLst/>
                </a:prstGeom>
                <a:solidFill>
                  <a:srgbClr val="004D4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20" name="CuadroTexto 19">
                  <a:extLst>
                    <a:ext uri="{FF2B5EF4-FFF2-40B4-BE49-F238E27FC236}">
                      <a16:creationId xmlns:a16="http://schemas.microsoft.com/office/drawing/2014/main" id="{1EB11653-2E7D-C2DF-FBB0-7860BDB44246}"/>
                    </a:ext>
                  </a:extLst>
                </p:cNvPr>
                <p:cNvSpPr txBox="1"/>
                <p:nvPr/>
              </p:nvSpPr>
              <p:spPr>
                <a:xfrm>
                  <a:off x="2781733" y="2202578"/>
                  <a:ext cx="8293287" cy="707886"/>
                </a:xfrm>
                <a:prstGeom prst="rect">
                  <a:avLst/>
                </a:prstGeom>
                <a:noFill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r>
                    <a:rPr lang="es-MX" sz="4000" dirty="0">
                      <a:latin typeface="Times"/>
                      <a:cs typeface="Calibri"/>
                    </a:rPr>
                    <a:t>Índice de propensión = 0.75</a:t>
                  </a:r>
                </a:p>
              </p:txBody>
            </p:sp>
          </p:grpSp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DDECC174-0C92-CF4C-37FA-ACB3981FAA00}"/>
                  </a:ext>
                </a:extLst>
              </p:cNvPr>
              <p:cNvSpPr txBox="1"/>
              <p:nvPr/>
            </p:nvSpPr>
            <p:spPr>
              <a:xfrm>
                <a:off x="2777184" y="3160382"/>
                <a:ext cx="8293287" cy="707886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s-MX" sz="4000" dirty="0">
                    <a:latin typeface="Times"/>
                    <a:cs typeface="Calibri"/>
                  </a:rPr>
                  <a:t>Índice de propensión = 0.25</a:t>
                </a:r>
              </a:p>
            </p:txBody>
          </p:sp>
        </p:grpSp>
        <p:sp>
          <p:nvSpPr>
            <p:cNvPr id="23" name="Elipse 22">
              <a:extLst>
                <a:ext uri="{FF2B5EF4-FFF2-40B4-BE49-F238E27FC236}">
                  <a16:creationId xmlns:a16="http://schemas.microsoft.com/office/drawing/2014/main" id="{4A5F5A3C-A669-DA16-AB98-C06AF924863D}"/>
                </a:ext>
              </a:extLst>
            </p:cNvPr>
            <p:cNvSpPr/>
            <p:nvPr/>
          </p:nvSpPr>
          <p:spPr>
            <a:xfrm>
              <a:off x="2163716" y="3502197"/>
              <a:ext cx="621033" cy="611753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4" name="Elipse 23">
              <a:extLst>
                <a:ext uri="{FF2B5EF4-FFF2-40B4-BE49-F238E27FC236}">
                  <a16:creationId xmlns:a16="http://schemas.microsoft.com/office/drawing/2014/main" id="{BC656661-B9BE-B1B8-7CF0-90737E3AC42A}"/>
                </a:ext>
              </a:extLst>
            </p:cNvPr>
            <p:cNvSpPr/>
            <p:nvPr/>
          </p:nvSpPr>
          <p:spPr>
            <a:xfrm>
              <a:off x="2146490" y="2539549"/>
              <a:ext cx="629533" cy="611753"/>
            </a:xfrm>
            <a:prstGeom prst="ellipse">
              <a:avLst/>
            </a:prstGeom>
            <a:solidFill>
              <a:srgbClr val="C08D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31" name="CuadroTexto 30">
              <a:extLst>
                <a:ext uri="{FF2B5EF4-FFF2-40B4-BE49-F238E27FC236}">
                  <a16:creationId xmlns:a16="http://schemas.microsoft.com/office/drawing/2014/main" id="{052488F5-AA98-1FEC-5741-C23312C04C29}"/>
                </a:ext>
              </a:extLst>
            </p:cNvPr>
            <p:cNvSpPr txBox="1"/>
            <p:nvPr/>
          </p:nvSpPr>
          <p:spPr>
            <a:xfrm>
              <a:off x="2887768" y="3430619"/>
              <a:ext cx="8202301" cy="707886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s-MX" sz="4000" dirty="0">
                  <a:latin typeface="Times"/>
                  <a:cs typeface="Calibri"/>
                </a:rPr>
                <a:t>Municipios fuera de muestra </a:t>
              </a:r>
              <a:endParaRPr lang="en-US" sz="4000" dirty="0">
                <a:latin typeface="Times"/>
                <a:cs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415589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E3B96CAA-16DA-BE91-BB7A-BCD4E11A05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4027" y="594114"/>
            <a:ext cx="6943946" cy="5669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4718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DB7F6371-2DE5-A01D-FB40-DFCA785423F5}"/>
              </a:ext>
            </a:extLst>
          </p:cNvPr>
          <p:cNvSpPr txBox="1"/>
          <p:nvPr/>
        </p:nvSpPr>
        <p:spPr>
          <a:xfrm>
            <a:off x="1231846" y="214144"/>
            <a:ext cx="9100781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2400" b="1" dirty="0">
                <a:latin typeface="Times"/>
                <a:cs typeface="Calibri"/>
              </a:rPr>
              <a:t>Figura 7</a:t>
            </a:r>
          </a:p>
          <a:p>
            <a:pPr algn="ctr"/>
            <a:r>
              <a:rPr lang="es-ES" sz="2000" b="1" dirty="0">
                <a:latin typeface="Times"/>
                <a:cs typeface="Calibri"/>
              </a:rPr>
              <a:t>Índice de propensión por municipio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1B479DB2-9B1A-662E-CFE0-1A56F34C9528}"/>
              </a:ext>
            </a:extLst>
          </p:cNvPr>
          <p:cNvSpPr/>
          <p:nvPr/>
        </p:nvSpPr>
        <p:spPr>
          <a:xfrm>
            <a:off x="2616200" y="5259317"/>
            <a:ext cx="2091267" cy="8398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7E8BC0D1-DAEC-7749-83E3-41340E59029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8" t="22894" r="2382" b="18308"/>
          <a:stretch/>
        </p:blipFill>
        <p:spPr>
          <a:xfrm>
            <a:off x="2691430" y="1239529"/>
            <a:ext cx="6884370" cy="4212502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25B18D53-F33D-5B8C-0F41-1E3A6FECF5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4050" y="4536950"/>
            <a:ext cx="2325054" cy="1260393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65BD4F2A-7D56-4DBC-1615-709C70D7BD36}"/>
              </a:ext>
            </a:extLst>
          </p:cNvPr>
          <p:cNvSpPr txBox="1"/>
          <p:nvPr/>
        </p:nvSpPr>
        <p:spPr>
          <a:xfrm>
            <a:off x="1396232" y="5775621"/>
            <a:ext cx="910078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2000" b="1" dirty="0">
                <a:latin typeface="Times"/>
                <a:cs typeface="Calibri"/>
              </a:rPr>
              <a:t>Fuentes: INEGI, CONANP</a:t>
            </a:r>
            <a:endParaRPr lang="es-ES" sz="2000" dirty="0">
              <a:latin typeface="Times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524075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76A4BDB7-2147-625C-A613-094D588D58EF}"/>
              </a:ext>
            </a:extLst>
          </p:cNvPr>
          <p:cNvSpPr/>
          <p:nvPr/>
        </p:nvSpPr>
        <p:spPr>
          <a:xfrm>
            <a:off x="563525" y="350153"/>
            <a:ext cx="6909154" cy="6039160"/>
          </a:xfrm>
          <a:prstGeom prst="rect">
            <a:avLst/>
          </a:prstGeom>
          <a:solidFill>
            <a:schemeClr val="bg1"/>
          </a:solidFill>
          <a:ln>
            <a:solidFill>
              <a:srgbClr val="004D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aphicFrame>
        <p:nvGraphicFramePr>
          <p:cNvPr id="24" name="Tabla 24">
            <a:extLst>
              <a:ext uri="{FF2B5EF4-FFF2-40B4-BE49-F238E27FC236}">
                <a16:creationId xmlns:a16="http://schemas.microsoft.com/office/drawing/2014/main" id="{CEACF4D5-9EFD-BCA6-6C62-F9476FD175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3881987"/>
              </p:ext>
            </p:extLst>
          </p:nvPr>
        </p:nvGraphicFramePr>
        <p:xfrm>
          <a:off x="8637600" y="1688177"/>
          <a:ext cx="718156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9078">
                  <a:extLst>
                    <a:ext uri="{9D8B030D-6E8A-4147-A177-3AD203B41FA5}">
                      <a16:colId xmlns:a16="http://schemas.microsoft.com/office/drawing/2014/main" val="3619769217"/>
                    </a:ext>
                  </a:extLst>
                </a:gridCol>
                <a:gridCol w="359078">
                  <a:extLst>
                    <a:ext uri="{9D8B030D-6E8A-4147-A177-3AD203B41FA5}">
                      <a16:colId xmlns:a16="http://schemas.microsoft.com/office/drawing/2014/main" val="3449498076"/>
                    </a:ext>
                  </a:extLst>
                </a:gridCol>
              </a:tblGrid>
              <a:tr h="248790">
                <a:tc>
                  <a:txBody>
                    <a:bodyPr/>
                    <a:lstStyle/>
                    <a:p>
                      <a:r>
                        <a:rPr lang="es-MX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200" dirty="0"/>
                    </a:p>
                  </a:txBody>
                  <a:tcPr>
                    <a:solidFill>
                      <a:srgbClr val="914F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5587049"/>
                  </a:ext>
                </a:extLst>
              </a:tr>
              <a:tr h="248790">
                <a:tc>
                  <a:txBody>
                    <a:bodyPr/>
                    <a:lstStyle/>
                    <a:p>
                      <a:r>
                        <a:rPr lang="es-MX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200" dirty="0"/>
                    </a:p>
                  </a:txBody>
                  <a:tcPr>
                    <a:solidFill>
                      <a:srgbClr val="AB73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6876115"/>
                  </a:ext>
                </a:extLst>
              </a:tr>
              <a:tr h="248790">
                <a:tc>
                  <a:txBody>
                    <a:bodyPr/>
                    <a:lstStyle/>
                    <a:p>
                      <a:r>
                        <a:rPr lang="es-MX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200" dirty="0"/>
                    </a:p>
                  </a:txBody>
                  <a:tcPr>
                    <a:solidFill>
                      <a:srgbClr val="C497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8814706"/>
                  </a:ext>
                </a:extLst>
              </a:tr>
              <a:tr h="248790">
                <a:tc>
                  <a:txBody>
                    <a:bodyPr/>
                    <a:lstStyle/>
                    <a:p>
                      <a:r>
                        <a:rPr lang="es-MX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200" dirty="0"/>
                    </a:p>
                  </a:txBody>
                  <a:tcPr>
                    <a:solidFill>
                      <a:srgbClr val="DBBD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2569283"/>
                  </a:ext>
                </a:extLst>
              </a:tr>
            </a:tbl>
          </a:graphicData>
        </a:graphic>
      </p:graphicFrame>
      <p:sp>
        <p:nvSpPr>
          <p:cNvPr id="25" name="CuadroTexto 24">
            <a:extLst>
              <a:ext uri="{FF2B5EF4-FFF2-40B4-BE49-F238E27FC236}">
                <a16:creationId xmlns:a16="http://schemas.microsoft.com/office/drawing/2014/main" id="{E30BF909-10AA-8A1F-110D-7EFFFE383213}"/>
              </a:ext>
            </a:extLst>
          </p:cNvPr>
          <p:cNvSpPr txBox="1"/>
          <p:nvPr/>
        </p:nvSpPr>
        <p:spPr>
          <a:xfrm flipH="1">
            <a:off x="8369003" y="1378315"/>
            <a:ext cx="1762427" cy="2846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50" b="1" dirty="0">
                <a:latin typeface="Times" panose="02020603050405020304" pitchFamily="18" charset="0"/>
                <a:cs typeface="Times" panose="02020603050405020304" pitchFamily="18" charset="0"/>
              </a:rPr>
              <a:t>Índice de marginación</a:t>
            </a:r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308197AC-E8EA-2467-884D-7343617714A9}"/>
              </a:ext>
            </a:extLst>
          </p:cNvPr>
          <p:cNvCxnSpPr/>
          <p:nvPr/>
        </p:nvCxnSpPr>
        <p:spPr>
          <a:xfrm>
            <a:off x="9500134" y="1832556"/>
            <a:ext cx="0" cy="804766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uadroTexto 30">
            <a:extLst>
              <a:ext uri="{FF2B5EF4-FFF2-40B4-BE49-F238E27FC236}">
                <a16:creationId xmlns:a16="http://schemas.microsoft.com/office/drawing/2014/main" id="{5777301F-340C-2188-92D4-C0D3C5853929}"/>
              </a:ext>
            </a:extLst>
          </p:cNvPr>
          <p:cNvSpPr txBox="1"/>
          <p:nvPr/>
        </p:nvSpPr>
        <p:spPr>
          <a:xfrm flipH="1">
            <a:off x="9500133" y="1964562"/>
            <a:ext cx="10205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Menos marginación</a:t>
            </a:r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B1586E22-090F-1770-67E8-2FA2CFB96CD1}"/>
              </a:ext>
            </a:extLst>
          </p:cNvPr>
          <p:cNvSpPr/>
          <p:nvPr/>
        </p:nvSpPr>
        <p:spPr>
          <a:xfrm>
            <a:off x="8794547" y="3715839"/>
            <a:ext cx="404261" cy="399410"/>
          </a:xfrm>
          <a:prstGeom prst="ellipse">
            <a:avLst/>
          </a:prstGeom>
          <a:solidFill>
            <a:srgbClr val="599C90">
              <a:alpha val="20000"/>
            </a:srgbClr>
          </a:solidFill>
          <a:ln>
            <a:solidFill>
              <a:srgbClr val="599C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9616B12A-092F-5F12-C9C1-D1A96BCB2A49}"/>
              </a:ext>
            </a:extLst>
          </p:cNvPr>
          <p:cNvSpPr txBox="1"/>
          <p:nvPr/>
        </p:nvSpPr>
        <p:spPr>
          <a:xfrm flipH="1">
            <a:off x="8369002" y="3087011"/>
            <a:ext cx="190115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50" b="1" dirty="0">
                <a:latin typeface="Times" panose="02020603050405020304" pitchFamily="18" charset="0"/>
                <a:cs typeface="Times" panose="02020603050405020304" pitchFamily="18" charset="0"/>
              </a:rPr>
              <a:t>Áreas de incidencia para áreas protegidas 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AE41757A-92EB-F942-B52E-C40C40E0DCF8}"/>
              </a:ext>
            </a:extLst>
          </p:cNvPr>
          <p:cNvSpPr txBox="1"/>
          <p:nvPr/>
        </p:nvSpPr>
        <p:spPr>
          <a:xfrm flipH="1">
            <a:off x="9283234" y="3592379"/>
            <a:ext cx="9254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10 km desde su perímetro</a:t>
            </a: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7A82A0A7-D62F-778D-E487-06D282684397}"/>
              </a:ext>
            </a:extLst>
          </p:cNvPr>
          <p:cNvGrpSpPr/>
          <p:nvPr/>
        </p:nvGrpSpPr>
        <p:grpSpPr>
          <a:xfrm>
            <a:off x="641420" y="517367"/>
            <a:ext cx="6283033" cy="5627593"/>
            <a:chOff x="641420" y="517367"/>
            <a:chExt cx="6283033" cy="5627593"/>
          </a:xfrm>
        </p:grpSpPr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A68A3F9F-0E59-A19F-FA97-6353B89AB1A0}"/>
                </a:ext>
              </a:extLst>
            </p:cNvPr>
            <p:cNvSpPr txBox="1"/>
            <p:nvPr/>
          </p:nvSpPr>
          <p:spPr>
            <a:xfrm>
              <a:off x="826681" y="517367"/>
              <a:ext cx="6097772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ES" sz="2000" b="1" dirty="0">
                  <a:latin typeface="Times"/>
                  <a:cs typeface="Calibri"/>
                </a:rPr>
                <a:t>Figura A1: Isla Cerralvo y Cabo Pulmo</a:t>
              </a:r>
            </a:p>
            <a:p>
              <a:pPr algn="ctr"/>
              <a:r>
                <a:rPr lang="es-E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Índice de marginación para la región </a:t>
              </a:r>
              <a:r>
                <a:rPr lang="es-ES" sz="1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Península de Baja California y </a:t>
              </a:r>
              <a:r>
                <a:rPr lang="es-E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Pacífico </a:t>
              </a:r>
              <a:r>
                <a:rPr lang="es-ES" sz="1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Norte </a:t>
              </a:r>
            </a:p>
          </p:txBody>
        </p:sp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84374D9D-9967-8051-5ECD-09EB46A71BC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96" b="3960"/>
            <a:stretch/>
          </p:blipFill>
          <p:spPr>
            <a:xfrm>
              <a:off x="1459849" y="1435547"/>
              <a:ext cx="4831435" cy="4709413"/>
            </a:xfrm>
            <a:prstGeom prst="rect">
              <a:avLst/>
            </a:prstGeom>
          </p:spPr>
        </p:pic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CCCE41C3-A4F3-D0A4-55C4-A297D1AEBB86}"/>
                </a:ext>
              </a:extLst>
            </p:cNvPr>
            <p:cNvSpPr/>
            <p:nvPr/>
          </p:nvSpPr>
          <p:spPr>
            <a:xfrm>
              <a:off x="4018102" y="1468678"/>
              <a:ext cx="1875622" cy="5845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5000CFE6-DF4D-A2DF-6A32-735A00244104}"/>
                </a:ext>
              </a:extLst>
            </p:cNvPr>
            <p:cNvSpPr txBox="1"/>
            <p:nvPr/>
          </p:nvSpPr>
          <p:spPr>
            <a:xfrm flipH="1">
              <a:off x="4800368" y="3739376"/>
              <a:ext cx="111806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200" dirty="0">
                  <a:latin typeface="Times" panose="02020603050405020304" pitchFamily="18" charset="0"/>
                  <a:cs typeface="Times" panose="02020603050405020304" pitchFamily="18" charset="0"/>
                </a:rPr>
                <a:t>Isla Cerralvo </a:t>
              </a:r>
            </a:p>
          </p:txBody>
        </p:sp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67152EE4-0D04-E75E-FD3B-0495DB1DC8AF}"/>
                </a:ext>
              </a:extLst>
            </p:cNvPr>
            <p:cNvSpPr txBox="1"/>
            <p:nvPr/>
          </p:nvSpPr>
          <p:spPr>
            <a:xfrm flipH="1">
              <a:off x="4974441" y="3991789"/>
              <a:ext cx="111806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200" dirty="0">
                  <a:latin typeface="Times" panose="02020603050405020304" pitchFamily="18" charset="0"/>
                  <a:cs typeface="Times" panose="02020603050405020304" pitchFamily="18" charset="0"/>
                </a:rPr>
                <a:t>Cabo Pulmo</a:t>
              </a:r>
            </a:p>
          </p:txBody>
        </p:sp>
        <p:cxnSp>
          <p:nvCxnSpPr>
            <p:cNvPr id="15" name="Conector recto 14">
              <a:extLst>
                <a:ext uri="{FF2B5EF4-FFF2-40B4-BE49-F238E27FC236}">
                  <a16:creationId xmlns:a16="http://schemas.microsoft.com/office/drawing/2014/main" id="{878C6D23-285E-C27C-94D1-37FA983FAC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06963" y="3943350"/>
              <a:ext cx="328612" cy="146050"/>
            </a:xfrm>
            <a:prstGeom prst="line">
              <a:avLst/>
            </a:prstGeom>
            <a:ln>
              <a:solidFill>
                <a:srgbClr val="78AFA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recto 19">
              <a:extLst>
                <a:ext uri="{FF2B5EF4-FFF2-40B4-BE49-F238E27FC236}">
                  <a16:creationId xmlns:a16="http://schemas.microsoft.com/office/drawing/2014/main" id="{79647C4C-166E-96F7-BE45-AC2C9BF01D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30788" y="4195763"/>
              <a:ext cx="328612" cy="146050"/>
            </a:xfrm>
            <a:prstGeom prst="line">
              <a:avLst/>
            </a:prstGeom>
            <a:ln>
              <a:solidFill>
                <a:srgbClr val="78AFA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CuadroTexto 29">
              <a:extLst>
                <a:ext uri="{FF2B5EF4-FFF2-40B4-BE49-F238E27FC236}">
                  <a16:creationId xmlns:a16="http://schemas.microsoft.com/office/drawing/2014/main" id="{E4C7897F-270D-FEFB-9D7D-241AA19CD644}"/>
                </a:ext>
              </a:extLst>
            </p:cNvPr>
            <p:cNvSpPr txBox="1"/>
            <p:nvPr/>
          </p:nvSpPr>
          <p:spPr>
            <a:xfrm flipH="1">
              <a:off x="4800368" y="3741277"/>
              <a:ext cx="111806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200" dirty="0">
                  <a:latin typeface="Times" panose="02020603050405020304" pitchFamily="18" charset="0"/>
                  <a:cs typeface="Times" panose="02020603050405020304" pitchFamily="18" charset="0"/>
                </a:rPr>
                <a:t> </a:t>
              </a:r>
            </a:p>
          </p:txBody>
        </p:sp>
        <p:pic>
          <p:nvPicPr>
            <p:cNvPr id="39" name="Imagen 38">
              <a:extLst>
                <a:ext uri="{FF2B5EF4-FFF2-40B4-BE49-F238E27FC236}">
                  <a16:creationId xmlns:a16="http://schemas.microsoft.com/office/drawing/2014/main" id="{DCE8B167-3816-159B-E4FE-643272715C7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1420" y="3893361"/>
              <a:ext cx="1746340" cy="208290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964206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76A4BDB7-2147-625C-A613-094D588D58EF}"/>
              </a:ext>
            </a:extLst>
          </p:cNvPr>
          <p:cNvSpPr/>
          <p:nvPr/>
        </p:nvSpPr>
        <p:spPr>
          <a:xfrm>
            <a:off x="563525" y="376169"/>
            <a:ext cx="6909154" cy="6039160"/>
          </a:xfrm>
          <a:prstGeom prst="rect">
            <a:avLst/>
          </a:prstGeom>
          <a:solidFill>
            <a:schemeClr val="bg1"/>
          </a:solidFill>
          <a:ln>
            <a:solidFill>
              <a:srgbClr val="004D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CE2A71C-20A8-3C72-D5CC-8BD004C52BC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65" b="4266"/>
          <a:stretch/>
        </p:blipFill>
        <p:spPr>
          <a:xfrm>
            <a:off x="1292800" y="1366150"/>
            <a:ext cx="5056349" cy="4871258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3236F1E2-E4E1-2037-167F-4D8FD34D9ECA}"/>
              </a:ext>
            </a:extLst>
          </p:cNvPr>
          <p:cNvSpPr txBox="1"/>
          <p:nvPr/>
        </p:nvSpPr>
        <p:spPr>
          <a:xfrm>
            <a:off x="912078" y="6093070"/>
            <a:ext cx="672422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Fuentes</a:t>
            </a:r>
            <a:r>
              <a:rPr lang="es-MX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Elaboración propia con base en datos de CONANP Y CONAPO.</a:t>
            </a:r>
            <a:endParaRPr lang="es-MX" sz="1600" dirty="0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E30BF909-10AA-8A1F-110D-7EFFFE383213}"/>
              </a:ext>
            </a:extLst>
          </p:cNvPr>
          <p:cNvSpPr txBox="1"/>
          <p:nvPr/>
        </p:nvSpPr>
        <p:spPr>
          <a:xfrm flipH="1">
            <a:off x="8601764" y="1153868"/>
            <a:ext cx="153145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50" b="1" dirty="0">
                <a:latin typeface="Times" panose="02020603050405020304" pitchFamily="18" charset="0"/>
                <a:cs typeface="Times" panose="02020603050405020304" pitchFamily="18" charset="0"/>
              </a:rPr>
              <a:t>Ingreso promedio en el municipio ($)</a:t>
            </a:r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B1586E22-090F-1770-67E8-2FA2CFB96CD1}"/>
              </a:ext>
            </a:extLst>
          </p:cNvPr>
          <p:cNvSpPr/>
          <p:nvPr/>
        </p:nvSpPr>
        <p:spPr>
          <a:xfrm>
            <a:off x="8794547" y="3715839"/>
            <a:ext cx="404261" cy="399410"/>
          </a:xfrm>
          <a:prstGeom prst="ellipse">
            <a:avLst/>
          </a:prstGeom>
          <a:solidFill>
            <a:srgbClr val="599C90">
              <a:alpha val="20000"/>
            </a:srgbClr>
          </a:solidFill>
          <a:ln>
            <a:solidFill>
              <a:srgbClr val="599C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9616B12A-092F-5F12-C9C1-D1A96BCB2A49}"/>
              </a:ext>
            </a:extLst>
          </p:cNvPr>
          <p:cNvSpPr txBox="1"/>
          <p:nvPr/>
        </p:nvSpPr>
        <p:spPr>
          <a:xfrm flipH="1">
            <a:off x="8369002" y="3087011"/>
            <a:ext cx="190115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50" b="1" dirty="0">
                <a:latin typeface="Times" panose="02020603050405020304" pitchFamily="18" charset="0"/>
                <a:cs typeface="Times" panose="02020603050405020304" pitchFamily="18" charset="0"/>
              </a:rPr>
              <a:t>Áreas de incidencia para áreas protegidas 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AE41757A-92EB-F942-B52E-C40C40E0DCF8}"/>
              </a:ext>
            </a:extLst>
          </p:cNvPr>
          <p:cNvSpPr txBox="1"/>
          <p:nvPr/>
        </p:nvSpPr>
        <p:spPr>
          <a:xfrm flipH="1">
            <a:off x="9283234" y="3592379"/>
            <a:ext cx="9254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10 km desde su perímetro</a:t>
            </a:r>
          </a:p>
        </p:txBody>
      </p:sp>
      <p:graphicFrame>
        <p:nvGraphicFramePr>
          <p:cNvPr id="28" name="Tabla 24">
            <a:extLst>
              <a:ext uri="{FF2B5EF4-FFF2-40B4-BE49-F238E27FC236}">
                <a16:creationId xmlns:a16="http://schemas.microsoft.com/office/drawing/2014/main" id="{16962E35-1AF7-B030-C2FA-04E29E1074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3631684"/>
              </p:ext>
            </p:extLst>
          </p:nvPr>
        </p:nvGraphicFramePr>
        <p:xfrm>
          <a:off x="8736065" y="1663932"/>
          <a:ext cx="925486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7682">
                  <a:extLst>
                    <a:ext uri="{9D8B030D-6E8A-4147-A177-3AD203B41FA5}">
                      <a16:colId xmlns:a16="http://schemas.microsoft.com/office/drawing/2014/main" val="3619769217"/>
                    </a:ext>
                  </a:extLst>
                </a:gridCol>
                <a:gridCol w="277804">
                  <a:extLst>
                    <a:ext uri="{9D8B030D-6E8A-4147-A177-3AD203B41FA5}">
                      <a16:colId xmlns:a16="http://schemas.microsoft.com/office/drawing/2014/main" val="3449498076"/>
                    </a:ext>
                  </a:extLst>
                </a:gridCol>
              </a:tblGrid>
              <a:tr h="246577">
                <a:tc>
                  <a:txBody>
                    <a:bodyPr/>
                    <a:lstStyle/>
                    <a:p>
                      <a:pPr algn="ctr"/>
                      <a:r>
                        <a:rPr lang="es-MX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200" dirty="0"/>
                    </a:p>
                  </a:txBody>
                  <a:tcPr>
                    <a:solidFill>
                      <a:srgbClr val="F0E3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5587049"/>
                  </a:ext>
                </a:extLst>
              </a:tr>
              <a:tr h="246577">
                <a:tc>
                  <a:txBody>
                    <a:bodyPr/>
                    <a:lstStyle/>
                    <a:p>
                      <a:pPr algn="ctr"/>
                      <a:r>
                        <a:rPr lang="es-MX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200" dirty="0"/>
                    </a:p>
                  </a:txBody>
                  <a:tcPr>
                    <a:solidFill>
                      <a:srgbClr val="E5CA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6876115"/>
                  </a:ext>
                </a:extLst>
              </a:tr>
              <a:tr h="246577">
                <a:tc>
                  <a:txBody>
                    <a:bodyPr/>
                    <a:lstStyle/>
                    <a:p>
                      <a:pPr algn="ctr"/>
                      <a:r>
                        <a:rPr lang="es-MX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200" dirty="0"/>
                    </a:p>
                  </a:txBody>
                  <a:tcPr>
                    <a:solidFill>
                      <a:srgbClr val="D8B2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8814706"/>
                  </a:ext>
                </a:extLst>
              </a:tr>
              <a:tr h="246577">
                <a:tc>
                  <a:txBody>
                    <a:bodyPr/>
                    <a:lstStyle/>
                    <a:p>
                      <a:pPr algn="ctr"/>
                      <a:r>
                        <a:rPr lang="es-MX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200" dirty="0"/>
                    </a:p>
                  </a:txBody>
                  <a:tcPr>
                    <a:solidFill>
                      <a:srgbClr val="C999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2569283"/>
                  </a:ext>
                </a:extLst>
              </a:tr>
            </a:tbl>
          </a:graphicData>
        </a:graphic>
      </p:graphicFrame>
      <p:grpSp>
        <p:nvGrpSpPr>
          <p:cNvPr id="2" name="Grupo 1">
            <a:extLst>
              <a:ext uri="{FF2B5EF4-FFF2-40B4-BE49-F238E27FC236}">
                <a16:creationId xmlns:a16="http://schemas.microsoft.com/office/drawing/2014/main" id="{39A8FC6B-5181-37C3-0A8B-B03013600649}"/>
              </a:ext>
            </a:extLst>
          </p:cNvPr>
          <p:cNvGrpSpPr/>
          <p:nvPr/>
        </p:nvGrpSpPr>
        <p:grpSpPr>
          <a:xfrm>
            <a:off x="733903" y="517367"/>
            <a:ext cx="6190550" cy="5287221"/>
            <a:chOff x="733903" y="517367"/>
            <a:chExt cx="6190550" cy="5287221"/>
          </a:xfrm>
        </p:grpSpPr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A68A3F9F-0E59-A19F-FA97-6353B89AB1A0}"/>
                </a:ext>
              </a:extLst>
            </p:cNvPr>
            <p:cNvSpPr txBox="1"/>
            <p:nvPr/>
          </p:nvSpPr>
          <p:spPr>
            <a:xfrm>
              <a:off x="826681" y="517367"/>
              <a:ext cx="6097772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ES" sz="2000" b="1" dirty="0">
                  <a:latin typeface="Times"/>
                  <a:cs typeface="Calibri"/>
                </a:rPr>
                <a:t>Figura A1: Isla Cerralvo y Cabo Pulmo</a:t>
              </a:r>
            </a:p>
            <a:p>
              <a:pPr algn="ctr"/>
              <a:r>
                <a:rPr lang="es-E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Ingreso por persona para la región </a:t>
              </a:r>
              <a:r>
                <a:rPr lang="es-ES" sz="1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Península de Baja California y </a:t>
              </a:r>
              <a:r>
                <a:rPr lang="es-E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Pacífico </a:t>
              </a:r>
              <a:r>
                <a:rPr lang="es-ES" sz="1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Norte </a:t>
              </a:r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CCCE41C3-A4F3-D0A4-55C4-A297D1AEBB86}"/>
                </a:ext>
              </a:extLst>
            </p:cNvPr>
            <p:cNvSpPr/>
            <p:nvPr/>
          </p:nvSpPr>
          <p:spPr>
            <a:xfrm>
              <a:off x="4018102" y="1468678"/>
              <a:ext cx="1875622" cy="5845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5000CFE6-DF4D-A2DF-6A32-735A00244104}"/>
                </a:ext>
              </a:extLst>
            </p:cNvPr>
            <p:cNvSpPr txBox="1"/>
            <p:nvPr/>
          </p:nvSpPr>
          <p:spPr>
            <a:xfrm flipH="1">
              <a:off x="4800368" y="3739376"/>
              <a:ext cx="111806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200" dirty="0">
                  <a:latin typeface="Times" panose="02020603050405020304" pitchFamily="18" charset="0"/>
                  <a:cs typeface="Times" panose="02020603050405020304" pitchFamily="18" charset="0"/>
                </a:rPr>
                <a:t>Isla Cerralvo </a:t>
              </a:r>
            </a:p>
          </p:txBody>
        </p:sp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67152EE4-0D04-E75E-FD3B-0495DB1DC8AF}"/>
                </a:ext>
              </a:extLst>
            </p:cNvPr>
            <p:cNvSpPr txBox="1"/>
            <p:nvPr/>
          </p:nvSpPr>
          <p:spPr>
            <a:xfrm flipH="1">
              <a:off x="4974441" y="3991789"/>
              <a:ext cx="111806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200" dirty="0">
                  <a:latin typeface="Times" panose="02020603050405020304" pitchFamily="18" charset="0"/>
                  <a:cs typeface="Times" panose="02020603050405020304" pitchFamily="18" charset="0"/>
                </a:rPr>
                <a:t>Cabo Pulmo</a:t>
              </a:r>
            </a:p>
          </p:txBody>
        </p:sp>
        <p:cxnSp>
          <p:nvCxnSpPr>
            <p:cNvPr id="15" name="Conector recto 14">
              <a:extLst>
                <a:ext uri="{FF2B5EF4-FFF2-40B4-BE49-F238E27FC236}">
                  <a16:creationId xmlns:a16="http://schemas.microsoft.com/office/drawing/2014/main" id="{878C6D23-285E-C27C-94D1-37FA983FAC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06963" y="3943350"/>
              <a:ext cx="328612" cy="146050"/>
            </a:xfrm>
            <a:prstGeom prst="line">
              <a:avLst/>
            </a:prstGeom>
            <a:ln>
              <a:solidFill>
                <a:srgbClr val="78AFA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recto 19">
              <a:extLst>
                <a:ext uri="{FF2B5EF4-FFF2-40B4-BE49-F238E27FC236}">
                  <a16:creationId xmlns:a16="http://schemas.microsoft.com/office/drawing/2014/main" id="{79647C4C-166E-96F7-BE45-AC2C9BF01D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30788" y="4195763"/>
              <a:ext cx="328612" cy="146050"/>
            </a:xfrm>
            <a:prstGeom prst="line">
              <a:avLst/>
            </a:prstGeom>
            <a:ln>
              <a:solidFill>
                <a:srgbClr val="78AFA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CuadroTexto 29">
              <a:extLst>
                <a:ext uri="{FF2B5EF4-FFF2-40B4-BE49-F238E27FC236}">
                  <a16:creationId xmlns:a16="http://schemas.microsoft.com/office/drawing/2014/main" id="{E4C7897F-270D-FEFB-9D7D-241AA19CD644}"/>
                </a:ext>
              </a:extLst>
            </p:cNvPr>
            <p:cNvSpPr txBox="1"/>
            <p:nvPr/>
          </p:nvSpPr>
          <p:spPr>
            <a:xfrm flipH="1">
              <a:off x="4800368" y="3741277"/>
              <a:ext cx="111806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200" dirty="0">
                  <a:latin typeface="Times" panose="02020603050405020304" pitchFamily="18" charset="0"/>
                  <a:cs typeface="Times" panose="02020603050405020304" pitchFamily="18" charset="0"/>
                </a:rPr>
                <a:t> </a:t>
              </a:r>
            </a:p>
          </p:txBody>
        </p:sp>
        <p:pic>
          <p:nvPicPr>
            <p:cNvPr id="19" name="Imagen 18">
              <a:extLst>
                <a:ext uri="{FF2B5EF4-FFF2-40B4-BE49-F238E27FC236}">
                  <a16:creationId xmlns:a16="http://schemas.microsoft.com/office/drawing/2014/main" id="{0D0F5DE3-82F2-8EBC-412D-0C85A7FF46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3903" y="3593326"/>
              <a:ext cx="1337621" cy="221126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408943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76A4BDB7-2147-625C-A613-094D588D58EF}"/>
              </a:ext>
            </a:extLst>
          </p:cNvPr>
          <p:cNvSpPr/>
          <p:nvPr/>
        </p:nvSpPr>
        <p:spPr>
          <a:xfrm>
            <a:off x="563525" y="376169"/>
            <a:ext cx="6909154" cy="6039160"/>
          </a:xfrm>
          <a:prstGeom prst="rect">
            <a:avLst/>
          </a:prstGeom>
          <a:solidFill>
            <a:schemeClr val="bg1"/>
          </a:solidFill>
          <a:ln>
            <a:solidFill>
              <a:srgbClr val="004D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236F1E2-E4E1-2037-167F-4D8FD34D9ECA}"/>
              </a:ext>
            </a:extLst>
          </p:cNvPr>
          <p:cNvSpPr txBox="1"/>
          <p:nvPr/>
        </p:nvSpPr>
        <p:spPr>
          <a:xfrm>
            <a:off x="912078" y="6093070"/>
            <a:ext cx="672422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Fuentes</a:t>
            </a:r>
            <a:r>
              <a:rPr lang="es-MX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Elaboración propia con base en datos de CONANP Y CONAPO.</a:t>
            </a:r>
            <a:endParaRPr lang="es-MX" sz="1600" dirty="0"/>
          </a:p>
        </p:txBody>
      </p:sp>
      <p:graphicFrame>
        <p:nvGraphicFramePr>
          <p:cNvPr id="24" name="Tabla 24">
            <a:extLst>
              <a:ext uri="{FF2B5EF4-FFF2-40B4-BE49-F238E27FC236}">
                <a16:creationId xmlns:a16="http://schemas.microsoft.com/office/drawing/2014/main" id="{CEACF4D5-9EFD-BCA6-6C62-F9476FD175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4301776"/>
              </p:ext>
            </p:extLst>
          </p:nvPr>
        </p:nvGraphicFramePr>
        <p:xfrm>
          <a:off x="7994804" y="1287654"/>
          <a:ext cx="718156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9078">
                  <a:extLst>
                    <a:ext uri="{9D8B030D-6E8A-4147-A177-3AD203B41FA5}">
                      <a16:colId xmlns:a16="http://schemas.microsoft.com/office/drawing/2014/main" val="3619769217"/>
                    </a:ext>
                  </a:extLst>
                </a:gridCol>
                <a:gridCol w="359078">
                  <a:extLst>
                    <a:ext uri="{9D8B030D-6E8A-4147-A177-3AD203B41FA5}">
                      <a16:colId xmlns:a16="http://schemas.microsoft.com/office/drawing/2014/main" val="3449498076"/>
                    </a:ext>
                  </a:extLst>
                </a:gridCol>
              </a:tblGrid>
              <a:tr h="248790">
                <a:tc>
                  <a:txBody>
                    <a:bodyPr/>
                    <a:lstStyle/>
                    <a:p>
                      <a:r>
                        <a:rPr lang="es-MX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200" dirty="0"/>
                    </a:p>
                  </a:txBody>
                  <a:tcPr>
                    <a:solidFill>
                      <a:srgbClr val="914F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5587049"/>
                  </a:ext>
                </a:extLst>
              </a:tr>
              <a:tr h="248790">
                <a:tc>
                  <a:txBody>
                    <a:bodyPr/>
                    <a:lstStyle/>
                    <a:p>
                      <a:r>
                        <a:rPr lang="es-MX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200" dirty="0"/>
                    </a:p>
                  </a:txBody>
                  <a:tcPr>
                    <a:solidFill>
                      <a:srgbClr val="AB73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6876115"/>
                  </a:ext>
                </a:extLst>
              </a:tr>
              <a:tr h="248790">
                <a:tc>
                  <a:txBody>
                    <a:bodyPr/>
                    <a:lstStyle/>
                    <a:p>
                      <a:r>
                        <a:rPr lang="es-MX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200" dirty="0"/>
                    </a:p>
                  </a:txBody>
                  <a:tcPr>
                    <a:solidFill>
                      <a:srgbClr val="C497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8814706"/>
                  </a:ext>
                </a:extLst>
              </a:tr>
              <a:tr h="248790">
                <a:tc>
                  <a:txBody>
                    <a:bodyPr/>
                    <a:lstStyle/>
                    <a:p>
                      <a:r>
                        <a:rPr lang="es-MX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200" dirty="0"/>
                    </a:p>
                  </a:txBody>
                  <a:tcPr>
                    <a:solidFill>
                      <a:srgbClr val="DBBD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2569283"/>
                  </a:ext>
                </a:extLst>
              </a:tr>
            </a:tbl>
          </a:graphicData>
        </a:graphic>
      </p:graphicFrame>
      <p:sp>
        <p:nvSpPr>
          <p:cNvPr id="25" name="CuadroTexto 24">
            <a:extLst>
              <a:ext uri="{FF2B5EF4-FFF2-40B4-BE49-F238E27FC236}">
                <a16:creationId xmlns:a16="http://schemas.microsoft.com/office/drawing/2014/main" id="{E30BF909-10AA-8A1F-110D-7EFFFE383213}"/>
              </a:ext>
            </a:extLst>
          </p:cNvPr>
          <p:cNvSpPr txBox="1"/>
          <p:nvPr/>
        </p:nvSpPr>
        <p:spPr>
          <a:xfrm flipH="1">
            <a:off x="7726207" y="977792"/>
            <a:ext cx="1762427" cy="2846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50" b="1" dirty="0">
                <a:latin typeface="Times" panose="02020603050405020304" pitchFamily="18" charset="0"/>
                <a:cs typeface="Times" panose="02020603050405020304" pitchFamily="18" charset="0"/>
              </a:rPr>
              <a:t>Índice de marginación</a:t>
            </a:r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308197AC-E8EA-2467-884D-7343617714A9}"/>
              </a:ext>
            </a:extLst>
          </p:cNvPr>
          <p:cNvCxnSpPr/>
          <p:nvPr/>
        </p:nvCxnSpPr>
        <p:spPr>
          <a:xfrm>
            <a:off x="8857338" y="1432033"/>
            <a:ext cx="0" cy="804766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uadroTexto 30">
            <a:extLst>
              <a:ext uri="{FF2B5EF4-FFF2-40B4-BE49-F238E27FC236}">
                <a16:creationId xmlns:a16="http://schemas.microsoft.com/office/drawing/2014/main" id="{5777301F-340C-2188-92D4-C0D3C5853929}"/>
              </a:ext>
            </a:extLst>
          </p:cNvPr>
          <p:cNvSpPr txBox="1"/>
          <p:nvPr/>
        </p:nvSpPr>
        <p:spPr>
          <a:xfrm flipH="1">
            <a:off x="8857337" y="1564039"/>
            <a:ext cx="10205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Menos marginación</a:t>
            </a:r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B1586E22-090F-1770-67E8-2FA2CFB96CD1}"/>
              </a:ext>
            </a:extLst>
          </p:cNvPr>
          <p:cNvSpPr/>
          <p:nvPr/>
        </p:nvSpPr>
        <p:spPr>
          <a:xfrm>
            <a:off x="10313044" y="1615654"/>
            <a:ext cx="404261" cy="399410"/>
          </a:xfrm>
          <a:prstGeom prst="ellipse">
            <a:avLst/>
          </a:prstGeom>
          <a:solidFill>
            <a:srgbClr val="599C90">
              <a:alpha val="20000"/>
            </a:srgbClr>
          </a:solidFill>
          <a:ln>
            <a:solidFill>
              <a:srgbClr val="599C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9616B12A-092F-5F12-C9C1-D1A96BCB2A49}"/>
              </a:ext>
            </a:extLst>
          </p:cNvPr>
          <p:cNvSpPr txBox="1"/>
          <p:nvPr/>
        </p:nvSpPr>
        <p:spPr>
          <a:xfrm flipH="1">
            <a:off x="10185882" y="955885"/>
            <a:ext cx="168205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50" b="1" dirty="0">
                <a:latin typeface="Times" panose="02020603050405020304" pitchFamily="18" charset="0"/>
                <a:cs typeface="Times" panose="02020603050405020304" pitchFamily="18" charset="0"/>
              </a:rPr>
              <a:t>Áreas de incidencia para áreas protegidas 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AE41757A-92EB-F942-B52E-C40C40E0DCF8}"/>
              </a:ext>
            </a:extLst>
          </p:cNvPr>
          <p:cNvSpPr txBox="1"/>
          <p:nvPr/>
        </p:nvSpPr>
        <p:spPr>
          <a:xfrm flipH="1">
            <a:off x="10792106" y="1501625"/>
            <a:ext cx="9254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10 km desde su perímetro</a:t>
            </a: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7D94EA66-1621-7917-2D3D-3CEF0EC77C43}"/>
              </a:ext>
            </a:extLst>
          </p:cNvPr>
          <p:cNvGrpSpPr/>
          <p:nvPr/>
        </p:nvGrpSpPr>
        <p:grpSpPr>
          <a:xfrm>
            <a:off x="826681" y="483654"/>
            <a:ext cx="6333154" cy="5368006"/>
            <a:chOff x="826681" y="509054"/>
            <a:chExt cx="6333154" cy="5368006"/>
          </a:xfrm>
        </p:grpSpPr>
        <p:pic>
          <p:nvPicPr>
            <p:cNvPr id="6" name="Imagen 5">
              <a:extLst>
                <a:ext uri="{FF2B5EF4-FFF2-40B4-BE49-F238E27FC236}">
                  <a16:creationId xmlns:a16="http://schemas.microsoft.com/office/drawing/2014/main" id="{EA0CD8AD-DE10-F2AC-FF7B-02BCD52D144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82" t="28339" r="4003" b="28332"/>
            <a:stretch/>
          </p:blipFill>
          <p:spPr>
            <a:xfrm>
              <a:off x="1062063" y="1794872"/>
              <a:ext cx="6097772" cy="3047445"/>
            </a:xfrm>
            <a:prstGeom prst="rect">
              <a:avLst/>
            </a:prstGeom>
          </p:spPr>
        </p:pic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A68A3F9F-0E59-A19F-FA97-6353B89AB1A0}"/>
                </a:ext>
              </a:extLst>
            </p:cNvPr>
            <p:cNvSpPr txBox="1"/>
            <p:nvPr/>
          </p:nvSpPr>
          <p:spPr>
            <a:xfrm>
              <a:off x="826681" y="509054"/>
              <a:ext cx="6097772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ES" sz="2000" b="1" dirty="0">
                  <a:latin typeface="Times"/>
                  <a:cs typeface="Calibri"/>
                </a:rPr>
                <a:t>Figura A1: Lagunas de Chacahua</a:t>
              </a:r>
            </a:p>
            <a:p>
              <a:pPr algn="ctr"/>
              <a:r>
                <a:rPr lang="es-E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Índice de marginación para la región </a:t>
              </a:r>
              <a:r>
                <a:rPr lang="es-MX" sz="1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Frontera Sur, Istmo y Pacífico Sur</a:t>
              </a:r>
              <a:endParaRPr lang="es-ES" sz="18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CCCE41C3-A4F3-D0A4-55C4-A297D1AEBB86}"/>
                </a:ext>
              </a:extLst>
            </p:cNvPr>
            <p:cNvSpPr/>
            <p:nvPr/>
          </p:nvSpPr>
          <p:spPr>
            <a:xfrm>
              <a:off x="1050764" y="4413549"/>
              <a:ext cx="1875622" cy="5845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67152EE4-0D04-E75E-FD3B-0495DB1DC8AF}"/>
                </a:ext>
              </a:extLst>
            </p:cNvPr>
            <p:cNvSpPr txBox="1"/>
            <p:nvPr/>
          </p:nvSpPr>
          <p:spPr>
            <a:xfrm flipH="1">
              <a:off x="1054683" y="3951884"/>
              <a:ext cx="92859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200" dirty="0">
                  <a:latin typeface="Times" panose="02020603050405020304" pitchFamily="18" charset="0"/>
                  <a:cs typeface="Times" panose="02020603050405020304" pitchFamily="18" charset="0"/>
                </a:rPr>
                <a:t>Lagunas de Chacahua</a:t>
              </a:r>
            </a:p>
          </p:txBody>
        </p:sp>
        <p:cxnSp>
          <p:nvCxnSpPr>
            <p:cNvPr id="20" name="Conector recto 19">
              <a:extLst>
                <a:ext uri="{FF2B5EF4-FFF2-40B4-BE49-F238E27FC236}">
                  <a16:creationId xmlns:a16="http://schemas.microsoft.com/office/drawing/2014/main" id="{79647C4C-166E-96F7-BE45-AC2C9BF01D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67228" y="3910533"/>
              <a:ext cx="328612" cy="146050"/>
            </a:xfrm>
            <a:prstGeom prst="line">
              <a:avLst/>
            </a:prstGeom>
            <a:ln>
              <a:solidFill>
                <a:srgbClr val="78AFA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4" name="Imagen 13">
              <a:extLst>
                <a:ext uri="{FF2B5EF4-FFF2-40B4-BE49-F238E27FC236}">
                  <a16:creationId xmlns:a16="http://schemas.microsoft.com/office/drawing/2014/main" id="{E0A098B0-F726-1B3A-DA14-BA4E23B5E0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00975" y="4902528"/>
              <a:ext cx="2745526" cy="9745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764317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76A4BDB7-2147-625C-A613-094D588D58EF}"/>
              </a:ext>
            </a:extLst>
          </p:cNvPr>
          <p:cNvSpPr/>
          <p:nvPr/>
        </p:nvSpPr>
        <p:spPr>
          <a:xfrm>
            <a:off x="563525" y="392464"/>
            <a:ext cx="6909154" cy="6039160"/>
          </a:xfrm>
          <a:prstGeom prst="rect">
            <a:avLst/>
          </a:prstGeom>
          <a:solidFill>
            <a:schemeClr val="bg1"/>
          </a:solidFill>
          <a:ln>
            <a:solidFill>
              <a:srgbClr val="004D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236F1E2-E4E1-2037-167F-4D8FD34D9ECA}"/>
              </a:ext>
            </a:extLst>
          </p:cNvPr>
          <p:cNvSpPr txBox="1"/>
          <p:nvPr/>
        </p:nvSpPr>
        <p:spPr>
          <a:xfrm>
            <a:off x="912078" y="6093070"/>
            <a:ext cx="672422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Fuentes</a:t>
            </a:r>
            <a:r>
              <a:rPr lang="es-MX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Elaboración propia con base en datos de CONANP Y CONAPO.</a:t>
            </a:r>
            <a:endParaRPr lang="es-MX" sz="1600" dirty="0"/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B1586E22-090F-1770-67E8-2FA2CFB96CD1}"/>
              </a:ext>
            </a:extLst>
          </p:cNvPr>
          <p:cNvSpPr/>
          <p:nvPr/>
        </p:nvSpPr>
        <p:spPr>
          <a:xfrm>
            <a:off x="10313044" y="1615654"/>
            <a:ext cx="404261" cy="399410"/>
          </a:xfrm>
          <a:prstGeom prst="ellipse">
            <a:avLst/>
          </a:prstGeom>
          <a:solidFill>
            <a:srgbClr val="599C90">
              <a:alpha val="20000"/>
            </a:srgbClr>
          </a:solidFill>
          <a:ln>
            <a:solidFill>
              <a:srgbClr val="599C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9616B12A-092F-5F12-C9C1-D1A96BCB2A49}"/>
              </a:ext>
            </a:extLst>
          </p:cNvPr>
          <p:cNvSpPr txBox="1"/>
          <p:nvPr/>
        </p:nvSpPr>
        <p:spPr>
          <a:xfrm flipH="1">
            <a:off x="10185882" y="955885"/>
            <a:ext cx="168205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50" b="1" dirty="0">
                <a:latin typeface="Times" panose="02020603050405020304" pitchFamily="18" charset="0"/>
                <a:cs typeface="Times" panose="02020603050405020304" pitchFamily="18" charset="0"/>
              </a:rPr>
              <a:t>Áreas de incidencia para áreas protegidas 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AE41757A-92EB-F942-B52E-C40C40E0DCF8}"/>
              </a:ext>
            </a:extLst>
          </p:cNvPr>
          <p:cNvSpPr txBox="1"/>
          <p:nvPr/>
        </p:nvSpPr>
        <p:spPr>
          <a:xfrm flipH="1">
            <a:off x="10792106" y="1501625"/>
            <a:ext cx="9254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10 km desde su perímetro</a:t>
            </a:r>
          </a:p>
        </p:txBody>
      </p:sp>
      <p:graphicFrame>
        <p:nvGraphicFramePr>
          <p:cNvPr id="17" name="Tabla 24">
            <a:extLst>
              <a:ext uri="{FF2B5EF4-FFF2-40B4-BE49-F238E27FC236}">
                <a16:creationId xmlns:a16="http://schemas.microsoft.com/office/drawing/2014/main" id="{505F35FA-326C-AA9E-6100-BC68CC3A49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6118044"/>
              </p:ext>
            </p:extLst>
          </p:nvPr>
        </p:nvGraphicFramePr>
        <p:xfrm>
          <a:off x="8416360" y="1490194"/>
          <a:ext cx="925486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7682">
                  <a:extLst>
                    <a:ext uri="{9D8B030D-6E8A-4147-A177-3AD203B41FA5}">
                      <a16:colId xmlns:a16="http://schemas.microsoft.com/office/drawing/2014/main" val="3619769217"/>
                    </a:ext>
                  </a:extLst>
                </a:gridCol>
                <a:gridCol w="277804">
                  <a:extLst>
                    <a:ext uri="{9D8B030D-6E8A-4147-A177-3AD203B41FA5}">
                      <a16:colId xmlns:a16="http://schemas.microsoft.com/office/drawing/2014/main" val="3449498076"/>
                    </a:ext>
                  </a:extLst>
                </a:gridCol>
              </a:tblGrid>
              <a:tr h="246577">
                <a:tc>
                  <a:txBody>
                    <a:bodyPr/>
                    <a:lstStyle/>
                    <a:p>
                      <a:pPr algn="ctr"/>
                      <a:r>
                        <a:rPr lang="es-MX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200" dirty="0"/>
                    </a:p>
                  </a:txBody>
                  <a:tcPr>
                    <a:solidFill>
                      <a:srgbClr val="F0E3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5587049"/>
                  </a:ext>
                </a:extLst>
              </a:tr>
              <a:tr h="246577">
                <a:tc>
                  <a:txBody>
                    <a:bodyPr/>
                    <a:lstStyle/>
                    <a:p>
                      <a:pPr algn="ctr"/>
                      <a:r>
                        <a:rPr lang="es-MX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200" dirty="0"/>
                    </a:p>
                  </a:txBody>
                  <a:tcPr>
                    <a:solidFill>
                      <a:srgbClr val="E5CA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6876115"/>
                  </a:ext>
                </a:extLst>
              </a:tr>
              <a:tr h="246577">
                <a:tc>
                  <a:txBody>
                    <a:bodyPr/>
                    <a:lstStyle/>
                    <a:p>
                      <a:pPr algn="ctr"/>
                      <a:r>
                        <a:rPr lang="es-MX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200" dirty="0"/>
                    </a:p>
                  </a:txBody>
                  <a:tcPr>
                    <a:solidFill>
                      <a:srgbClr val="D8B2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8814706"/>
                  </a:ext>
                </a:extLst>
              </a:tr>
              <a:tr h="246577">
                <a:tc>
                  <a:txBody>
                    <a:bodyPr/>
                    <a:lstStyle/>
                    <a:p>
                      <a:pPr algn="ctr"/>
                      <a:r>
                        <a:rPr lang="es-MX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sz="1200" dirty="0"/>
                    </a:p>
                  </a:txBody>
                  <a:tcPr>
                    <a:solidFill>
                      <a:srgbClr val="C999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2569283"/>
                  </a:ext>
                </a:extLst>
              </a:tr>
            </a:tbl>
          </a:graphicData>
        </a:graphic>
      </p:graphicFrame>
      <p:sp>
        <p:nvSpPr>
          <p:cNvPr id="18" name="CuadroTexto 17">
            <a:extLst>
              <a:ext uri="{FF2B5EF4-FFF2-40B4-BE49-F238E27FC236}">
                <a16:creationId xmlns:a16="http://schemas.microsoft.com/office/drawing/2014/main" id="{D015A566-8E8C-08CB-79F9-689DFE9FA3F4}"/>
              </a:ext>
            </a:extLst>
          </p:cNvPr>
          <p:cNvSpPr txBox="1"/>
          <p:nvPr/>
        </p:nvSpPr>
        <p:spPr>
          <a:xfrm flipH="1">
            <a:off x="8380525" y="955885"/>
            <a:ext cx="153145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50" b="1" dirty="0">
                <a:latin typeface="Times" panose="02020603050405020304" pitchFamily="18" charset="0"/>
                <a:cs typeface="Times" panose="02020603050405020304" pitchFamily="18" charset="0"/>
              </a:rPr>
              <a:t>Ingreso promedio en el municipio ($)</a:t>
            </a: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D71F7BB8-7611-DD65-E859-AE79EE7F400A}"/>
              </a:ext>
            </a:extLst>
          </p:cNvPr>
          <p:cNvGrpSpPr/>
          <p:nvPr/>
        </p:nvGrpSpPr>
        <p:grpSpPr>
          <a:xfrm>
            <a:off x="581170" y="509054"/>
            <a:ext cx="6848330" cy="5545812"/>
            <a:chOff x="581170" y="509054"/>
            <a:chExt cx="6848330" cy="5545812"/>
          </a:xfrm>
        </p:grpSpPr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409897C1-B4A6-4495-7BF3-09161FEC343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702" t="28954" r="3850" b="28706"/>
            <a:stretch/>
          </p:blipFill>
          <p:spPr>
            <a:xfrm>
              <a:off x="858431" y="1646337"/>
              <a:ext cx="6571069" cy="3176649"/>
            </a:xfrm>
            <a:prstGeom prst="rect">
              <a:avLst/>
            </a:prstGeom>
          </p:spPr>
        </p:pic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A68A3F9F-0E59-A19F-FA97-6353B89AB1A0}"/>
                </a:ext>
              </a:extLst>
            </p:cNvPr>
            <p:cNvSpPr txBox="1"/>
            <p:nvPr/>
          </p:nvSpPr>
          <p:spPr>
            <a:xfrm>
              <a:off x="826681" y="509054"/>
              <a:ext cx="6097772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ES" sz="2000" b="1" dirty="0">
                  <a:latin typeface="Times"/>
                  <a:cs typeface="Calibri"/>
                </a:rPr>
                <a:t>Figura A1: Lagunas de Chacahua</a:t>
              </a:r>
            </a:p>
            <a:p>
              <a:pPr algn="ctr"/>
              <a:r>
                <a:rPr lang="es-E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Ingreso por persona </a:t>
              </a:r>
              <a:r>
                <a:rPr lang="es-E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para la región </a:t>
              </a:r>
              <a:r>
                <a:rPr lang="es-MX" sz="1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Frontera Sur, Istmo y Pacífico Sur</a:t>
              </a:r>
              <a:endParaRPr lang="es-ES" sz="18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CCCE41C3-A4F3-D0A4-55C4-A297D1AEBB86}"/>
                </a:ext>
              </a:extLst>
            </p:cNvPr>
            <p:cNvSpPr/>
            <p:nvPr/>
          </p:nvSpPr>
          <p:spPr>
            <a:xfrm>
              <a:off x="581170" y="4121265"/>
              <a:ext cx="2092180" cy="75172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67152EE4-0D04-E75E-FD3B-0495DB1DC8AF}"/>
                </a:ext>
              </a:extLst>
            </p:cNvPr>
            <p:cNvSpPr txBox="1"/>
            <p:nvPr/>
          </p:nvSpPr>
          <p:spPr>
            <a:xfrm flipH="1">
              <a:off x="1054683" y="3951884"/>
              <a:ext cx="92859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200" dirty="0">
                  <a:latin typeface="Times" panose="02020603050405020304" pitchFamily="18" charset="0"/>
                  <a:cs typeface="Times" panose="02020603050405020304" pitchFamily="18" charset="0"/>
                </a:rPr>
                <a:t>Lagunas de Chacahua</a:t>
              </a:r>
            </a:p>
          </p:txBody>
        </p:sp>
        <p:cxnSp>
          <p:nvCxnSpPr>
            <p:cNvPr id="20" name="Conector recto 19">
              <a:extLst>
                <a:ext uri="{FF2B5EF4-FFF2-40B4-BE49-F238E27FC236}">
                  <a16:creationId xmlns:a16="http://schemas.microsoft.com/office/drawing/2014/main" id="{79647C4C-166E-96F7-BE45-AC2C9BF01D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67228" y="3910533"/>
              <a:ext cx="328612" cy="146050"/>
            </a:xfrm>
            <a:prstGeom prst="line">
              <a:avLst/>
            </a:prstGeom>
            <a:ln>
              <a:solidFill>
                <a:srgbClr val="78AFA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0CCD246F-4046-E6C8-A8CA-9923F2DF26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54683" y="4807615"/>
              <a:ext cx="2501317" cy="12472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628341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upo 15">
            <a:extLst>
              <a:ext uri="{FF2B5EF4-FFF2-40B4-BE49-F238E27FC236}">
                <a16:creationId xmlns:a16="http://schemas.microsoft.com/office/drawing/2014/main" id="{4ADFEE03-CE42-EB32-CFD2-8F41EEDBC0F0}"/>
              </a:ext>
            </a:extLst>
          </p:cNvPr>
          <p:cNvGrpSpPr/>
          <p:nvPr/>
        </p:nvGrpSpPr>
        <p:grpSpPr>
          <a:xfrm>
            <a:off x="6155140" y="3442537"/>
            <a:ext cx="5352752" cy="2910483"/>
            <a:chOff x="6155140" y="3442537"/>
            <a:chExt cx="5352752" cy="2910483"/>
          </a:xfrm>
        </p:grpSpPr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6F10D027-92CB-988B-5AD3-F011865CCD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55140" y="3640065"/>
              <a:ext cx="5352752" cy="2712955"/>
            </a:xfrm>
            <a:prstGeom prst="rect">
              <a:avLst/>
            </a:prstGeom>
          </p:spPr>
        </p:pic>
        <p:sp>
          <p:nvSpPr>
            <p:cNvPr id="15" name="CuadroTexto 14">
              <a:extLst>
                <a:ext uri="{FF2B5EF4-FFF2-40B4-BE49-F238E27FC236}">
                  <a16:creationId xmlns:a16="http://schemas.microsoft.com/office/drawing/2014/main" id="{7C3F6802-C100-457A-686B-C86A77F2F690}"/>
                </a:ext>
              </a:extLst>
            </p:cNvPr>
            <p:cNvSpPr txBox="1"/>
            <p:nvPr/>
          </p:nvSpPr>
          <p:spPr>
            <a:xfrm>
              <a:off x="6515677" y="3442537"/>
              <a:ext cx="49869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4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Fig. 1.1 - Presupuesto por categorías (en miles de pesos)</a:t>
              </a:r>
            </a:p>
          </p:txBody>
        </p:sp>
      </p:grpSp>
      <p:sp>
        <p:nvSpPr>
          <p:cNvPr id="8" name="Título 1">
            <a:extLst>
              <a:ext uri="{FF2B5EF4-FFF2-40B4-BE49-F238E27FC236}">
                <a16:creationId xmlns:a16="http://schemas.microsoft.com/office/drawing/2014/main" id="{D8FFC9B1-046B-A256-10B9-0F3B6A1E5649}"/>
              </a:ext>
            </a:extLst>
          </p:cNvPr>
          <p:cNvSpPr txBox="1">
            <a:spLocks/>
          </p:cNvSpPr>
          <p:nvPr/>
        </p:nvSpPr>
        <p:spPr>
          <a:xfrm>
            <a:off x="135775" y="66502"/>
            <a:ext cx="1709651" cy="57557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10000"/>
          </a:bodyPr>
          <a:lstStyle>
            <a:lvl1pPr algn="l" defTabSz="91441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b="1" dirty="0">
                <a:latin typeface="Times" panose="02020603050405020304" pitchFamily="18" charset="0"/>
                <a:cs typeface="Times" panose="02020603050405020304" pitchFamily="18" charset="0"/>
              </a:rPr>
              <a:t>Figura 1.1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16FA0DCD-4516-666D-ADBD-B9D161F99038}"/>
              </a:ext>
            </a:extLst>
          </p:cNvPr>
          <p:cNvGrpSpPr/>
          <p:nvPr/>
        </p:nvGrpSpPr>
        <p:grpSpPr>
          <a:xfrm>
            <a:off x="857215" y="1119831"/>
            <a:ext cx="5379661" cy="2946505"/>
            <a:chOff x="857215" y="1119831"/>
            <a:chExt cx="5379661" cy="2946505"/>
          </a:xfrm>
        </p:grpSpPr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3F1B6D21-3464-3A1A-205C-0B7C9967C53E}"/>
                </a:ext>
              </a:extLst>
            </p:cNvPr>
            <p:cNvSpPr txBox="1"/>
            <p:nvPr/>
          </p:nvSpPr>
          <p:spPr>
            <a:xfrm>
              <a:off x="1249939" y="1119831"/>
              <a:ext cx="49869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4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Fig. 1.1 Presupuesto por categorías (en miles de pesos)</a:t>
              </a:r>
            </a:p>
          </p:txBody>
        </p:sp>
        <p:graphicFrame>
          <p:nvGraphicFramePr>
            <p:cNvPr id="2" name="Gráfico 1">
              <a:extLst>
                <a:ext uri="{FF2B5EF4-FFF2-40B4-BE49-F238E27FC236}">
                  <a16:creationId xmlns:a16="http://schemas.microsoft.com/office/drawing/2014/main" id="{8C992BE2-4E87-4194-BCCA-459D7006BA68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451411125"/>
                </p:ext>
              </p:extLst>
            </p:nvPr>
          </p:nvGraphicFramePr>
          <p:xfrm>
            <a:off x="857215" y="1345250"/>
            <a:ext cx="5179646" cy="2721086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63021426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1866</TotalTime>
  <Words>921</Words>
  <Application>Microsoft Office PowerPoint</Application>
  <PresentationFormat>Panorámica</PresentationFormat>
  <Paragraphs>142</Paragraphs>
  <Slides>26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26</vt:i4>
      </vt:variant>
    </vt:vector>
  </HeadingPairs>
  <TitlesOfParts>
    <vt:vector size="33" baseType="lpstr">
      <vt:lpstr>Arial</vt:lpstr>
      <vt:lpstr>Calibri</vt:lpstr>
      <vt:lpstr>Calibri Light</vt:lpstr>
      <vt:lpstr>Public Sans</vt:lpstr>
      <vt:lpstr>Times</vt:lpstr>
      <vt:lpstr>Times New Roman</vt:lpstr>
      <vt:lpstr>Tema de Office</vt:lpstr>
      <vt:lpstr>Cambios estéticos fuera de código</vt:lpstr>
      <vt:lpstr>Aesthetical Off-Code Changes</vt:lpstr>
      <vt:lpstr>9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Luis Armando Alvarado Rodriguez</dc:creator>
  <cp:lastModifiedBy>Sebastian Ocampo Palacios</cp:lastModifiedBy>
  <cp:revision>287</cp:revision>
  <cp:lastPrinted>2022-06-23T04:19:36Z</cp:lastPrinted>
  <dcterms:created xsi:type="dcterms:W3CDTF">2021-05-21T06:33:23Z</dcterms:created>
  <dcterms:modified xsi:type="dcterms:W3CDTF">2022-09-19T04:34:49Z</dcterms:modified>
</cp:coreProperties>
</file>